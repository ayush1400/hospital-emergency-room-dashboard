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1.xml" ContentType="application/vnd.openxmlformats-officedocument.presentationml.notesSlide+xml"/>
  <Override PartName="/ppt/charts/chart7.xml" ContentType="application/vnd.openxmlformats-officedocument.drawingml.chart+xml"/>
  <Override PartName="/ppt/notesSlides/notesSlide12.xml" ContentType="application/vnd.openxmlformats-officedocument.presentationml.notesSlide+xml"/>
  <Override PartName="/ppt/charts/chart8.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70" r:id="rId3"/>
    <p:sldId id="271" r:id="rId4"/>
    <p:sldId id="272"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1A1A"/>
                </a:solidFill>
                <a:latin typeface="Arial"/>
              </a:defRPr>
            </a:pPr>
            <a:r>
              <a:rPr lang="en-IN" sz="1200" b="0" i="0" u="none" strike="noStrike">
                <a:solidFill>
                  <a:srgbClr val="1A1A1A"/>
                </a:solidFill>
                <a:latin typeface="Arial"/>
              </a:rPr>
              <a:t>Gender — 2023</a:t>
            </a:r>
          </a:p>
        </c:rich>
      </c:tx>
      <c:overlay val="0"/>
    </c:title>
    <c:autoTitleDeleted val="0"/>
    <c:plotArea>
      <c:layout/>
      <c:doughnutChart>
        <c:varyColors val="1"/>
        <c:ser>
          <c:idx val="0"/>
          <c:order val="0"/>
          <c:tx>
            <c:strRef>
              <c:f>Sheet1!$B$1</c:f>
              <c:strCache>
                <c:ptCount val="1"/>
                <c:pt idx="0">
                  <c:v>2023</c:v>
                </c:pt>
              </c:strCache>
            </c:strRef>
          </c:tx>
          <c:spPr>
            <a:solidFill>
              <a:schemeClr val="accent1"/>
            </a:solidFill>
            <a:ln w="9525" cap="flat">
              <a:solidFill>
                <a:srgbClr val="F9F9F9"/>
              </a:solidFill>
              <a:prstDash val="solid"/>
              <a:round/>
            </a:ln>
            <a:effectLst/>
          </c:spPr>
          <c:dPt>
            <c:idx val="0"/>
            <c:bubble3D val="0"/>
            <c:spPr>
              <a:solidFill>
                <a:srgbClr val="2F6DC4"/>
              </a:solidFill>
              <a:effectLst/>
            </c:spPr>
            <c:extLst>
              <c:ext xmlns:c16="http://schemas.microsoft.com/office/drawing/2014/chart" uri="{C3380CC4-5D6E-409C-BE32-E72D297353CC}">
                <c16:uniqueId val="{00000001-D0E5-40AC-9EDA-88EC7B7A258E}"/>
              </c:ext>
            </c:extLst>
          </c:dPt>
          <c:dPt>
            <c:idx val="1"/>
            <c:bubble3D val="0"/>
            <c:spPr>
              <a:solidFill>
                <a:srgbClr val="E8833A"/>
              </a:solidFill>
              <a:effectLst/>
            </c:spPr>
            <c:extLst>
              <c:ext xmlns:c16="http://schemas.microsoft.com/office/drawing/2014/chart" uri="{C3380CC4-5D6E-409C-BE32-E72D297353CC}">
                <c16:uniqueId val="{00000003-D0E5-40AC-9EDA-88EC7B7A258E}"/>
              </c:ext>
            </c:extLst>
          </c:dPt>
          <c:dLbls>
            <c:dLbl>
              <c:idx val="0"/>
              <c:numFmt formatCode="0%" sourceLinked="0"/>
              <c:spPr/>
              <c:txPr>
                <a:bodyPr/>
                <a:lstStyle/>
                <a:p>
                  <a:pPr>
                    <a:defRPr sz="14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D0E5-40AC-9EDA-88EC7B7A258E}"/>
                </c:ext>
              </c:extLst>
            </c:dLbl>
            <c:dLbl>
              <c:idx val="1"/>
              <c:numFmt formatCode="0%" sourceLinked="0"/>
              <c:spPr/>
              <c:txPr>
                <a:bodyPr/>
                <a:lstStyle/>
                <a:p>
                  <a:pPr>
                    <a:defRPr sz="14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0E5-40AC-9EDA-88EC7B7A258E}"/>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Male</c:v>
                </c:pt>
                <c:pt idx="1">
                  <c:v>Female</c:v>
                </c:pt>
              </c:strCache>
            </c:strRef>
          </c:cat>
          <c:val>
            <c:numRef>
              <c:f>Sheet1!$B$2:$B$3</c:f>
              <c:numCache>
                <c:formatCode>General</c:formatCode>
                <c:ptCount val="2"/>
                <c:pt idx="0">
                  <c:v>2196</c:v>
                </c:pt>
                <c:pt idx="1">
                  <c:v>2123</c:v>
                </c:pt>
              </c:numCache>
            </c:numRef>
          </c:val>
          <c:extLst>
            <c:ext xmlns:c16="http://schemas.microsoft.com/office/drawing/2014/chart" uri="{C3380CC4-5D6E-409C-BE32-E72D297353CC}">
              <c16:uniqueId val="{00000004-D0E5-40AC-9EDA-88EC7B7A258E}"/>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1A1A"/>
                </a:solidFill>
                <a:latin typeface="Arial"/>
              </a:defRPr>
            </a:pPr>
            <a:r>
              <a:rPr lang="en-IN" sz="1200" b="0" i="0" u="none" strike="noStrike">
                <a:solidFill>
                  <a:srgbClr val="1A1A1A"/>
                </a:solidFill>
                <a:latin typeface="Arial"/>
              </a:rPr>
              <a:t>Gender — 2024</a:t>
            </a:r>
          </a:p>
        </c:rich>
      </c:tx>
      <c:overlay val="0"/>
    </c:title>
    <c:autoTitleDeleted val="0"/>
    <c:plotArea>
      <c:layout/>
      <c:doughnutChart>
        <c:varyColors val="1"/>
        <c:ser>
          <c:idx val="0"/>
          <c:order val="0"/>
          <c:tx>
            <c:strRef>
              <c:f>Sheet1!$B$1</c:f>
              <c:strCache>
                <c:ptCount val="1"/>
                <c:pt idx="0">
                  <c:v>2024</c:v>
                </c:pt>
              </c:strCache>
            </c:strRef>
          </c:tx>
          <c:spPr>
            <a:solidFill>
              <a:schemeClr val="accent1"/>
            </a:solidFill>
            <a:ln w="9525" cap="flat">
              <a:solidFill>
                <a:srgbClr val="F9F9F9"/>
              </a:solidFill>
              <a:prstDash val="solid"/>
              <a:round/>
            </a:ln>
            <a:effectLst/>
          </c:spPr>
          <c:dPt>
            <c:idx val="0"/>
            <c:bubble3D val="0"/>
            <c:spPr>
              <a:solidFill>
                <a:srgbClr val="2F6DC4"/>
              </a:solidFill>
              <a:effectLst/>
            </c:spPr>
            <c:extLst>
              <c:ext xmlns:c16="http://schemas.microsoft.com/office/drawing/2014/chart" uri="{C3380CC4-5D6E-409C-BE32-E72D297353CC}">
                <c16:uniqueId val="{00000001-65D0-497E-91A2-FF146D5E555C}"/>
              </c:ext>
            </c:extLst>
          </c:dPt>
          <c:dPt>
            <c:idx val="1"/>
            <c:bubble3D val="0"/>
            <c:spPr>
              <a:solidFill>
                <a:srgbClr val="E8833A"/>
              </a:solidFill>
              <a:effectLst/>
            </c:spPr>
            <c:extLst>
              <c:ext xmlns:c16="http://schemas.microsoft.com/office/drawing/2014/chart" uri="{C3380CC4-5D6E-409C-BE32-E72D297353CC}">
                <c16:uniqueId val="{00000003-65D0-497E-91A2-FF146D5E555C}"/>
              </c:ext>
            </c:extLst>
          </c:dPt>
          <c:dLbls>
            <c:dLbl>
              <c:idx val="0"/>
              <c:numFmt formatCode="0%" sourceLinked="0"/>
              <c:spPr/>
              <c:txPr>
                <a:bodyPr/>
                <a:lstStyle/>
                <a:p>
                  <a:pPr>
                    <a:defRPr sz="14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65D0-497E-91A2-FF146D5E555C}"/>
                </c:ext>
              </c:extLst>
            </c:dLbl>
            <c:dLbl>
              <c:idx val="1"/>
              <c:numFmt formatCode="0%" sourceLinked="0"/>
              <c:spPr/>
              <c:txPr>
                <a:bodyPr/>
                <a:lstStyle/>
                <a:p>
                  <a:pPr>
                    <a:defRPr sz="14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65D0-497E-91A2-FF146D5E555C}"/>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Male</c:v>
                </c:pt>
                <c:pt idx="1">
                  <c:v>Female</c:v>
                </c:pt>
              </c:strCache>
            </c:strRef>
          </c:cat>
          <c:val>
            <c:numRef>
              <c:f>Sheet1!$B$2:$B$3</c:f>
              <c:numCache>
                <c:formatCode>General</c:formatCode>
                <c:ptCount val="2"/>
                <c:pt idx="0">
                  <c:v>2504</c:v>
                </c:pt>
                <c:pt idx="1">
                  <c:v>2347</c:v>
                </c:pt>
              </c:numCache>
            </c:numRef>
          </c:val>
          <c:extLst>
            <c:ext xmlns:c16="http://schemas.microsoft.com/office/drawing/2014/chart" uri="{C3380CC4-5D6E-409C-BE32-E72D297353CC}">
              <c16:uniqueId val="{00000004-65D0-497E-91A2-FF146D5E555C}"/>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A1A1A"/>
                </a:solidFill>
                <a:latin typeface="Arial"/>
              </a:defRPr>
            </a:pPr>
            <a:r>
              <a:rPr lang="en-US" sz="1300" b="0" i="0" u="none" strike="noStrike">
                <a:solidFill>
                  <a:srgbClr val="1A1A1A"/>
                </a:solidFill>
                <a:latin typeface="Arial"/>
              </a:rPr>
              <a:t>No. of Patients by Age Group — 2023 vs 2024</a:t>
            </a:r>
          </a:p>
        </c:rich>
      </c:tx>
      <c:overlay val="0"/>
    </c:title>
    <c:autoTitleDeleted val="0"/>
    <c:plotArea>
      <c:layout/>
      <c:barChart>
        <c:barDir val="col"/>
        <c:grouping val="clustered"/>
        <c:varyColors val="0"/>
        <c:ser>
          <c:idx val="0"/>
          <c:order val="0"/>
          <c:tx>
            <c:strRef>
              <c:f>Sheet1!$B$1</c:f>
              <c:strCache>
                <c:ptCount val="1"/>
                <c:pt idx="0">
                  <c:v>2023</c:v>
                </c:pt>
              </c:strCache>
            </c:strRef>
          </c:tx>
          <c:spPr>
            <a:solidFill>
              <a:srgbClr val="E8833A"/>
            </a:solidFill>
            <a:effectLst/>
          </c:spPr>
          <c:invertIfNegative val="0"/>
          <c:dLbls>
            <c:numFmt formatCode="#,##0" sourceLinked="0"/>
            <c:spPr>
              <a:noFill/>
              <a:ln>
                <a:noFill/>
              </a:ln>
              <a:effectLst/>
            </c:spPr>
            <c:txPr>
              <a:bodyPr/>
              <a:lstStyle/>
              <a:p>
                <a:pPr>
                  <a:defRPr sz="9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0-09</c:v>
                </c:pt>
                <c:pt idx="1">
                  <c:v>10-19</c:v>
                </c:pt>
                <c:pt idx="2">
                  <c:v>20-29</c:v>
                </c:pt>
                <c:pt idx="3">
                  <c:v>30-39</c:v>
                </c:pt>
                <c:pt idx="4">
                  <c:v>40-49</c:v>
                </c:pt>
                <c:pt idx="5">
                  <c:v>50-59</c:v>
                </c:pt>
                <c:pt idx="6">
                  <c:v>60-69</c:v>
                </c:pt>
                <c:pt idx="7">
                  <c:v>70-79</c:v>
                </c:pt>
              </c:strCache>
            </c:strRef>
          </c:cat>
          <c:val>
            <c:numRef>
              <c:f>Sheet1!$B$2:$B$9</c:f>
              <c:numCache>
                <c:formatCode>General</c:formatCode>
                <c:ptCount val="8"/>
                <c:pt idx="0">
                  <c:v>482</c:v>
                </c:pt>
                <c:pt idx="1">
                  <c:v>570</c:v>
                </c:pt>
                <c:pt idx="2">
                  <c:v>556</c:v>
                </c:pt>
                <c:pt idx="3">
                  <c:v>578</c:v>
                </c:pt>
                <c:pt idx="4">
                  <c:v>536</c:v>
                </c:pt>
                <c:pt idx="5">
                  <c:v>527</c:v>
                </c:pt>
                <c:pt idx="6">
                  <c:v>546</c:v>
                </c:pt>
                <c:pt idx="7">
                  <c:v>543</c:v>
                </c:pt>
              </c:numCache>
            </c:numRef>
          </c:val>
          <c:extLst>
            <c:ext xmlns:c16="http://schemas.microsoft.com/office/drawing/2014/chart" uri="{C3380CC4-5D6E-409C-BE32-E72D297353CC}">
              <c16:uniqueId val="{00000000-D95A-4E73-BAC9-C61527B0A9BD}"/>
            </c:ext>
          </c:extLst>
        </c:ser>
        <c:ser>
          <c:idx val="1"/>
          <c:order val="1"/>
          <c:tx>
            <c:strRef>
              <c:f>Sheet1!$C$1</c:f>
              <c:strCache>
                <c:ptCount val="1"/>
                <c:pt idx="0">
                  <c:v>2024</c:v>
                </c:pt>
              </c:strCache>
            </c:strRef>
          </c:tx>
          <c:spPr>
            <a:solidFill>
              <a:srgbClr val="2F6DC4"/>
            </a:solidFill>
            <a:effectLst/>
          </c:spPr>
          <c:invertIfNegative val="0"/>
          <c:dLbls>
            <c:numFmt formatCode="#,##0" sourceLinked="0"/>
            <c:spPr>
              <a:noFill/>
              <a:ln>
                <a:noFill/>
              </a:ln>
              <a:effectLst/>
            </c:spPr>
            <c:txPr>
              <a:bodyPr/>
              <a:lstStyle/>
              <a:p>
                <a:pPr>
                  <a:defRPr sz="9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0-09</c:v>
                </c:pt>
                <c:pt idx="1">
                  <c:v>10-19</c:v>
                </c:pt>
                <c:pt idx="2">
                  <c:v>20-29</c:v>
                </c:pt>
                <c:pt idx="3">
                  <c:v>30-39</c:v>
                </c:pt>
                <c:pt idx="4">
                  <c:v>40-49</c:v>
                </c:pt>
                <c:pt idx="5">
                  <c:v>50-59</c:v>
                </c:pt>
                <c:pt idx="6">
                  <c:v>60-69</c:v>
                </c:pt>
                <c:pt idx="7">
                  <c:v>70-79</c:v>
                </c:pt>
              </c:strCache>
            </c:strRef>
          </c:cat>
          <c:val>
            <c:numRef>
              <c:f>Sheet1!$C$2:$C$9</c:f>
              <c:numCache>
                <c:formatCode>General</c:formatCode>
                <c:ptCount val="8"/>
                <c:pt idx="0">
                  <c:v>574</c:v>
                </c:pt>
                <c:pt idx="1">
                  <c:v>609</c:v>
                </c:pt>
                <c:pt idx="2">
                  <c:v>632</c:v>
                </c:pt>
                <c:pt idx="3">
                  <c:v>622</c:v>
                </c:pt>
                <c:pt idx="4">
                  <c:v>599</c:v>
                </c:pt>
                <c:pt idx="5">
                  <c:v>624</c:v>
                </c:pt>
                <c:pt idx="6">
                  <c:v>608</c:v>
                </c:pt>
                <c:pt idx="7">
                  <c:v>610</c:v>
                </c:pt>
              </c:numCache>
            </c:numRef>
          </c:val>
          <c:extLst>
            <c:ext xmlns:c16="http://schemas.microsoft.com/office/drawing/2014/chart" uri="{C3380CC4-5D6E-409C-BE32-E72D297353CC}">
              <c16:uniqueId val="{00000001-D95A-4E73-BAC9-C61527B0A9B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888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1A1A"/>
                </a:solidFill>
                <a:latin typeface="Arial"/>
              </a:defRPr>
            </a:pPr>
            <a:r>
              <a:rPr lang="en-US" sz="1200" b="0" i="0" u="none" strike="noStrike">
                <a:solidFill>
                  <a:srgbClr val="1A1A1A"/>
                </a:solidFill>
                <a:latin typeface="Arial"/>
              </a:rPr>
              <a:t>No. of Patients by Department Referral — 2023 vs 2024</a:t>
            </a:r>
          </a:p>
        </c:rich>
      </c:tx>
      <c:overlay val="0"/>
    </c:title>
    <c:autoTitleDeleted val="0"/>
    <c:plotArea>
      <c:layout/>
      <c:barChart>
        <c:barDir val="bar"/>
        <c:grouping val="clustered"/>
        <c:varyColors val="0"/>
        <c:ser>
          <c:idx val="0"/>
          <c:order val="0"/>
          <c:tx>
            <c:strRef>
              <c:f>Sheet1!$B$1</c:f>
              <c:strCache>
                <c:ptCount val="1"/>
                <c:pt idx="0">
                  <c:v>2023</c:v>
                </c:pt>
              </c:strCache>
            </c:strRef>
          </c:tx>
          <c:spPr>
            <a:solidFill>
              <a:srgbClr val="E8833A"/>
            </a:solidFill>
            <a:effectLst/>
          </c:spPr>
          <c:invertIfNegative val="0"/>
          <c:dLbls>
            <c:numFmt formatCode="#,##0" sourceLinked="0"/>
            <c:spPr>
              <a:noFill/>
              <a:ln>
                <a:noFill/>
              </a:ln>
              <a:effectLst/>
            </c:spPr>
            <c:txPr>
              <a:bodyPr/>
              <a:lstStyle/>
              <a:p>
                <a:pPr>
                  <a:defRPr sz="9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Renal</c:v>
                </c:pt>
                <c:pt idx="1">
                  <c:v>Gastro.</c:v>
                </c:pt>
                <c:pt idx="2">
                  <c:v>Cardiology</c:v>
                </c:pt>
                <c:pt idx="3">
                  <c:v>Neurology</c:v>
                </c:pt>
                <c:pt idx="4">
                  <c:v>Physio.</c:v>
                </c:pt>
                <c:pt idx="5">
                  <c:v>Orthopedics</c:v>
                </c:pt>
                <c:pt idx="6">
                  <c:v>Gen. Practice</c:v>
                </c:pt>
                <c:pt idx="7">
                  <c:v>None</c:v>
                </c:pt>
              </c:strCache>
            </c:strRef>
          </c:cat>
          <c:val>
            <c:numRef>
              <c:f>Sheet1!$B$2:$B$9</c:f>
              <c:numCache>
                <c:formatCode>General</c:formatCode>
                <c:ptCount val="8"/>
                <c:pt idx="0">
                  <c:v>46</c:v>
                </c:pt>
                <c:pt idx="1">
                  <c:v>93</c:v>
                </c:pt>
                <c:pt idx="2">
                  <c:v>125</c:v>
                </c:pt>
                <c:pt idx="3">
                  <c:v>89</c:v>
                </c:pt>
                <c:pt idx="4">
                  <c:v>134</c:v>
                </c:pt>
                <c:pt idx="5">
                  <c:v>463</c:v>
                </c:pt>
                <c:pt idx="6">
                  <c:v>874</c:v>
                </c:pt>
                <c:pt idx="7">
                  <c:v>2514</c:v>
                </c:pt>
              </c:numCache>
            </c:numRef>
          </c:val>
          <c:extLst>
            <c:ext xmlns:c16="http://schemas.microsoft.com/office/drawing/2014/chart" uri="{C3380CC4-5D6E-409C-BE32-E72D297353CC}">
              <c16:uniqueId val="{00000000-0694-4122-8184-A36CDC9A6975}"/>
            </c:ext>
          </c:extLst>
        </c:ser>
        <c:ser>
          <c:idx val="1"/>
          <c:order val="1"/>
          <c:tx>
            <c:strRef>
              <c:f>Sheet1!$C$1</c:f>
              <c:strCache>
                <c:ptCount val="1"/>
                <c:pt idx="0">
                  <c:v>2024</c:v>
                </c:pt>
              </c:strCache>
            </c:strRef>
          </c:tx>
          <c:spPr>
            <a:solidFill>
              <a:srgbClr val="2F6DC4"/>
            </a:solidFill>
            <a:effectLst/>
          </c:spPr>
          <c:invertIfNegative val="0"/>
          <c:dLbls>
            <c:numFmt formatCode="#,##0" sourceLinked="0"/>
            <c:spPr>
              <a:noFill/>
              <a:ln>
                <a:noFill/>
              </a:ln>
              <a:effectLst/>
            </c:spPr>
            <c:txPr>
              <a:bodyPr/>
              <a:lstStyle/>
              <a:p>
                <a:pPr>
                  <a:defRPr sz="9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Renal</c:v>
                </c:pt>
                <c:pt idx="1">
                  <c:v>Gastro.</c:v>
                </c:pt>
                <c:pt idx="2">
                  <c:v>Cardiology</c:v>
                </c:pt>
                <c:pt idx="3">
                  <c:v>Neurology</c:v>
                </c:pt>
                <c:pt idx="4">
                  <c:v>Physio.</c:v>
                </c:pt>
                <c:pt idx="5">
                  <c:v>Orthopedics</c:v>
                </c:pt>
                <c:pt idx="6">
                  <c:v>Gen. Practice</c:v>
                </c:pt>
                <c:pt idx="7">
                  <c:v>None</c:v>
                </c:pt>
              </c:strCache>
            </c:strRef>
          </c:cat>
          <c:val>
            <c:numRef>
              <c:f>Sheet1!$C$2:$C$9</c:f>
              <c:numCache>
                <c:formatCode>General</c:formatCode>
                <c:ptCount val="8"/>
                <c:pt idx="0">
                  <c:v>40</c:v>
                </c:pt>
                <c:pt idx="1">
                  <c:v>85</c:v>
                </c:pt>
                <c:pt idx="2">
                  <c:v>123</c:v>
                </c:pt>
                <c:pt idx="3">
                  <c:v>104</c:v>
                </c:pt>
                <c:pt idx="4">
                  <c:v>142</c:v>
                </c:pt>
                <c:pt idx="5">
                  <c:v>532</c:v>
                </c:pt>
                <c:pt idx="6">
                  <c:v>966</c:v>
                </c:pt>
                <c:pt idx="7">
                  <c:v>2886</c:v>
                </c:pt>
              </c:numCache>
            </c:numRef>
          </c:val>
          <c:extLst>
            <c:ext xmlns:c16="http://schemas.microsoft.com/office/drawing/2014/chart" uri="{C3380CC4-5D6E-409C-BE32-E72D297353CC}">
              <c16:uniqueId val="{00000001-0694-4122-8184-A36CDC9A697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EEE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88888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1A1A"/>
                </a:solidFill>
                <a:latin typeface="Arial"/>
              </a:defRPr>
            </a:pPr>
            <a:r>
              <a:rPr lang="en-IN" sz="1200" b="0" i="0" u="none" strike="noStrike">
                <a:solidFill>
                  <a:srgbClr val="1A1A1A"/>
                </a:solidFill>
                <a:latin typeface="Arial"/>
              </a:rPr>
              <a:t>Admission Status — 2023</a:t>
            </a:r>
          </a:p>
        </c:rich>
      </c:tx>
      <c:overlay val="0"/>
    </c:title>
    <c:autoTitleDeleted val="0"/>
    <c:plotArea>
      <c:layout/>
      <c:pieChart>
        <c:varyColors val="1"/>
        <c:ser>
          <c:idx val="0"/>
          <c:order val="0"/>
          <c:tx>
            <c:strRef>
              <c:f>Sheet1!$B$1</c:f>
              <c:strCache>
                <c:ptCount val="1"/>
                <c:pt idx="0">
                  <c:v>Patients</c:v>
                </c:pt>
              </c:strCache>
            </c:strRef>
          </c:tx>
          <c:spPr>
            <a:solidFill>
              <a:schemeClr val="accent1"/>
            </a:solidFill>
            <a:ln w="9525" cap="flat">
              <a:solidFill>
                <a:srgbClr val="F9F9F9"/>
              </a:solidFill>
              <a:prstDash val="solid"/>
              <a:round/>
            </a:ln>
            <a:effectLst/>
          </c:spPr>
          <c:dPt>
            <c:idx val="0"/>
            <c:bubble3D val="0"/>
            <c:spPr>
              <a:solidFill>
                <a:srgbClr val="E8833A"/>
              </a:solidFill>
              <a:effectLst/>
            </c:spPr>
            <c:extLst>
              <c:ext xmlns:c16="http://schemas.microsoft.com/office/drawing/2014/chart" uri="{C3380CC4-5D6E-409C-BE32-E72D297353CC}">
                <c16:uniqueId val="{00000001-FF7A-4FEF-98D7-90C55FC99C21}"/>
              </c:ext>
            </c:extLst>
          </c:dPt>
          <c:dPt>
            <c:idx val="1"/>
            <c:bubble3D val="0"/>
            <c:spPr>
              <a:solidFill>
                <a:srgbClr val="2F6DC4"/>
              </a:solidFill>
              <a:effectLst/>
            </c:spPr>
            <c:extLst>
              <c:ext xmlns:c16="http://schemas.microsoft.com/office/drawing/2014/chart" uri="{C3380CC4-5D6E-409C-BE32-E72D297353CC}">
                <c16:uniqueId val="{00000003-FF7A-4FEF-98D7-90C55FC99C21}"/>
              </c:ext>
            </c:extLst>
          </c:dPt>
          <c:dLbls>
            <c:dLbl>
              <c:idx val="0"/>
              <c:numFmt formatCode="0%" sourceLinked="0"/>
              <c:spPr/>
              <c:txPr>
                <a:bodyPr/>
                <a:lstStyle/>
                <a:p>
                  <a:pPr>
                    <a:defRPr sz="14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F7A-4FEF-98D7-90C55FC99C21}"/>
                </c:ext>
              </c:extLst>
            </c:dLbl>
            <c:dLbl>
              <c:idx val="1"/>
              <c:numFmt formatCode="0%" sourceLinked="0"/>
              <c:spPr/>
              <c:txPr>
                <a:bodyPr/>
                <a:lstStyle/>
                <a:p>
                  <a:pPr>
                    <a:defRPr sz="14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F7A-4FEF-98D7-90C55FC99C21}"/>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Admitted</c:v>
                </c:pt>
                <c:pt idx="1">
                  <c:v>Not Admitted</c:v>
                </c:pt>
              </c:strCache>
            </c:strRef>
          </c:cat>
          <c:val>
            <c:numRef>
              <c:f>Sheet1!$B$2:$B$3</c:f>
              <c:numCache>
                <c:formatCode>General</c:formatCode>
                <c:ptCount val="2"/>
                <c:pt idx="0">
                  <c:v>2157</c:v>
                </c:pt>
                <c:pt idx="1">
                  <c:v>2181</c:v>
                </c:pt>
              </c:numCache>
            </c:numRef>
          </c:val>
          <c:extLst>
            <c:ext xmlns:c16="http://schemas.microsoft.com/office/drawing/2014/chart" uri="{C3380CC4-5D6E-409C-BE32-E72D297353CC}">
              <c16:uniqueId val="{00000004-FF7A-4FEF-98D7-90C55FC99C21}"/>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1A1A"/>
                </a:solidFill>
                <a:latin typeface="Arial"/>
              </a:defRPr>
            </a:pPr>
            <a:r>
              <a:rPr lang="en-IN" sz="1200" b="0" i="0" u="none" strike="noStrike">
                <a:solidFill>
                  <a:srgbClr val="1A1A1A"/>
                </a:solidFill>
                <a:latin typeface="Arial"/>
              </a:rPr>
              <a:t>Admission Status — 2024</a:t>
            </a:r>
          </a:p>
        </c:rich>
      </c:tx>
      <c:overlay val="0"/>
    </c:title>
    <c:autoTitleDeleted val="0"/>
    <c:plotArea>
      <c:layout/>
      <c:pieChart>
        <c:varyColors val="1"/>
        <c:ser>
          <c:idx val="0"/>
          <c:order val="0"/>
          <c:tx>
            <c:strRef>
              <c:f>Sheet1!$B$1</c:f>
              <c:strCache>
                <c:ptCount val="1"/>
                <c:pt idx="0">
                  <c:v>Patients</c:v>
                </c:pt>
              </c:strCache>
            </c:strRef>
          </c:tx>
          <c:spPr>
            <a:solidFill>
              <a:schemeClr val="accent1"/>
            </a:solidFill>
            <a:ln w="9525" cap="flat">
              <a:solidFill>
                <a:srgbClr val="F9F9F9"/>
              </a:solidFill>
              <a:prstDash val="solid"/>
              <a:round/>
            </a:ln>
            <a:effectLst/>
          </c:spPr>
          <c:dPt>
            <c:idx val="0"/>
            <c:bubble3D val="0"/>
            <c:spPr>
              <a:solidFill>
                <a:srgbClr val="E8833A"/>
              </a:solidFill>
              <a:effectLst/>
            </c:spPr>
            <c:extLst>
              <c:ext xmlns:c16="http://schemas.microsoft.com/office/drawing/2014/chart" uri="{C3380CC4-5D6E-409C-BE32-E72D297353CC}">
                <c16:uniqueId val="{00000001-2411-4452-BC2B-7C02070871E0}"/>
              </c:ext>
            </c:extLst>
          </c:dPt>
          <c:dPt>
            <c:idx val="1"/>
            <c:bubble3D val="0"/>
            <c:spPr>
              <a:solidFill>
                <a:srgbClr val="2F6DC4"/>
              </a:solidFill>
              <a:effectLst/>
            </c:spPr>
            <c:extLst>
              <c:ext xmlns:c16="http://schemas.microsoft.com/office/drawing/2014/chart" uri="{C3380CC4-5D6E-409C-BE32-E72D297353CC}">
                <c16:uniqueId val="{00000003-2411-4452-BC2B-7C02070871E0}"/>
              </c:ext>
            </c:extLst>
          </c:dPt>
          <c:dLbls>
            <c:dLbl>
              <c:idx val="0"/>
              <c:numFmt formatCode="0%" sourceLinked="0"/>
              <c:spPr/>
              <c:txPr>
                <a:bodyPr/>
                <a:lstStyle/>
                <a:p>
                  <a:pPr>
                    <a:defRPr sz="14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411-4452-BC2B-7C02070871E0}"/>
                </c:ext>
              </c:extLst>
            </c:dLbl>
            <c:dLbl>
              <c:idx val="1"/>
              <c:numFmt formatCode="0%" sourceLinked="0"/>
              <c:spPr/>
              <c:txPr>
                <a:bodyPr/>
                <a:lstStyle/>
                <a:p>
                  <a:pPr>
                    <a:defRPr sz="14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2411-4452-BC2B-7C02070871E0}"/>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Admitted</c:v>
                </c:pt>
                <c:pt idx="1">
                  <c:v>Not Admitted</c:v>
                </c:pt>
              </c:strCache>
            </c:strRef>
          </c:cat>
          <c:val>
            <c:numRef>
              <c:f>Sheet1!$B$2:$B$3</c:f>
              <c:numCache>
                <c:formatCode>General</c:formatCode>
                <c:ptCount val="2"/>
                <c:pt idx="0">
                  <c:v>2455</c:v>
                </c:pt>
                <c:pt idx="1">
                  <c:v>2423</c:v>
                </c:pt>
              </c:numCache>
            </c:numRef>
          </c:val>
          <c:extLst>
            <c:ext xmlns:c16="http://schemas.microsoft.com/office/drawing/2014/chart" uri="{C3380CC4-5D6E-409C-BE32-E72D297353CC}">
              <c16:uniqueId val="{00000004-2411-4452-BC2B-7C02070871E0}"/>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A1A1A"/>
                </a:solidFill>
                <a:latin typeface="Arial"/>
              </a:defRPr>
            </a:pPr>
            <a:r>
              <a:rPr lang="en-US" sz="1300" b="0" i="0" u="none" strike="noStrike">
                <a:solidFill>
                  <a:srgbClr val="1A1A1A"/>
                </a:solidFill>
                <a:latin typeface="Arial"/>
              </a:rPr>
              <a:t>Monthly Patient Volume — 2023 vs 2024</a:t>
            </a:r>
          </a:p>
        </c:rich>
      </c:tx>
      <c:overlay val="0"/>
    </c:title>
    <c:autoTitleDeleted val="0"/>
    <c:plotArea>
      <c:layout/>
      <c:lineChart>
        <c:grouping val="standard"/>
        <c:varyColors val="0"/>
        <c:ser>
          <c:idx val="0"/>
          <c:order val="0"/>
          <c:tx>
            <c:strRef>
              <c:f>Sheet1!$B$1</c:f>
              <c:strCache>
                <c:ptCount val="1"/>
                <c:pt idx="0">
                  <c:v>2023</c:v>
                </c:pt>
              </c:strCache>
            </c:strRef>
          </c:tx>
          <c:spPr>
            <a:ln w="31750" cap="flat">
              <a:solidFill>
                <a:srgbClr val="E8833A"/>
              </a:solidFill>
              <a:prstDash val="solid"/>
              <a:round/>
            </a:ln>
            <a:effectLst/>
          </c:spPr>
          <c:marker>
            <c:symbol val="circle"/>
            <c:size val="6"/>
            <c:spPr>
              <a:solidFill>
                <a:srgbClr val="E8833A"/>
              </a:solidFill>
              <a:ln w="9525" cap="flat">
                <a:solidFill>
                  <a:srgbClr val="E8833A"/>
                </a:solidFill>
                <a:prstDash val="solid"/>
                <a:round/>
              </a:ln>
              <a:effectLst/>
            </c:spPr>
          </c:marker>
          <c:dLbls>
            <c:numFmt formatCode="#,##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Apr</c:v>
                </c:pt>
                <c:pt idx="1">
                  <c:v>May</c:v>
                </c:pt>
                <c:pt idx="2">
                  <c:v>Jun</c:v>
                </c:pt>
                <c:pt idx="3">
                  <c:v>Jul</c:v>
                </c:pt>
                <c:pt idx="4">
                  <c:v>Aug</c:v>
                </c:pt>
                <c:pt idx="5">
                  <c:v>Sep</c:v>
                </c:pt>
                <c:pt idx="6">
                  <c:v>Oct</c:v>
                </c:pt>
                <c:pt idx="7">
                  <c:v>Nov</c:v>
                </c:pt>
                <c:pt idx="8">
                  <c:v>Dec</c:v>
                </c:pt>
              </c:strCache>
            </c:strRef>
          </c:cat>
          <c:val>
            <c:numRef>
              <c:f>Sheet1!$B$2:$B$10</c:f>
              <c:numCache>
                <c:formatCode>General</c:formatCode>
                <c:ptCount val="9"/>
                <c:pt idx="0">
                  <c:v>479</c:v>
                </c:pt>
                <c:pt idx="1">
                  <c:v>480</c:v>
                </c:pt>
                <c:pt idx="2">
                  <c:v>506</c:v>
                </c:pt>
                <c:pt idx="3">
                  <c:v>464</c:v>
                </c:pt>
                <c:pt idx="4">
                  <c:v>494</c:v>
                </c:pt>
                <c:pt idx="5">
                  <c:v>469</c:v>
                </c:pt>
                <c:pt idx="6">
                  <c:v>493</c:v>
                </c:pt>
                <c:pt idx="7">
                  <c:v>464</c:v>
                </c:pt>
                <c:pt idx="8">
                  <c:v>489</c:v>
                </c:pt>
              </c:numCache>
            </c:numRef>
          </c:val>
          <c:smooth val="0"/>
          <c:extLst>
            <c:ext xmlns:c16="http://schemas.microsoft.com/office/drawing/2014/chart" uri="{C3380CC4-5D6E-409C-BE32-E72D297353CC}">
              <c16:uniqueId val="{00000000-3716-43A1-9D5E-40AC1197DEFF}"/>
            </c:ext>
          </c:extLst>
        </c:ser>
        <c:ser>
          <c:idx val="1"/>
          <c:order val="1"/>
          <c:tx>
            <c:strRef>
              <c:f>Sheet1!$C$1</c:f>
              <c:strCache>
                <c:ptCount val="1"/>
                <c:pt idx="0">
                  <c:v>2024</c:v>
                </c:pt>
              </c:strCache>
            </c:strRef>
          </c:tx>
          <c:spPr>
            <a:ln w="31750" cap="flat">
              <a:solidFill>
                <a:srgbClr val="2F6DC4"/>
              </a:solidFill>
              <a:prstDash val="solid"/>
              <a:round/>
            </a:ln>
            <a:effectLst/>
          </c:spPr>
          <c:marker>
            <c:symbol val="circle"/>
            <c:size val="6"/>
            <c:spPr>
              <a:solidFill>
                <a:srgbClr val="2F6DC4"/>
              </a:solidFill>
              <a:ln w="9525" cap="flat">
                <a:solidFill>
                  <a:srgbClr val="2F6DC4"/>
                </a:solidFill>
                <a:prstDash val="solid"/>
                <a:round/>
              </a:ln>
              <a:effectLst/>
            </c:spPr>
          </c:marker>
          <c:dLbls>
            <c:numFmt formatCode="#,##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Jan</c:v>
                </c:pt>
                <c:pt idx="1">
                  <c:v>Feb</c:v>
                </c:pt>
                <c:pt idx="2">
                  <c:v>Mar</c:v>
                </c:pt>
                <c:pt idx="3">
                  <c:v>Apr</c:v>
                </c:pt>
                <c:pt idx="4">
                  <c:v>May</c:v>
                </c:pt>
                <c:pt idx="5">
                  <c:v>Jun</c:v>
                </c:pt>
                <c:pt idx="6">
                  <c:v>Jul</c:v>
                </c:pt>
                <c:pt idx="7">
                  <c:v>Aug</c:v>
                </c:pt>
                <c:pt idx="8">
                  <c:v>Sep</c:v>
                </c:pt>
                <c:pt idx="9">
                  <c:v>Oct</c:v>
                </c:pt>
              </c:strCache>
            </c:strRef>
          </c:cat>
          <c:val>
            <c:numRef>
              <c:f>Sheet1!$C$2:$C$11</c:f>
              <c:numCache>
                <c:formatCode>General</c:formatCode>
                <c:ptCount val="10"/>
                <c:pt idx="0">
                  <c:v>513</c:v>
                </c:pt>
                <c:pt idx="1">
                  <c:v>431</c:v>
                </c:pt>
                <c:pt idx="2">
                  <c:v>506</c:v>
                </c:pt>
                <c:pt idx="3">
                  <c:v>469</c:v>
                </c:pt>
                <c:pt idx="4">
                  <c:v>519</c:v>
                </c:pt>
                <c:pt idx="5">
                  <c:v>485</c:v>
                </c:pt>
                <c:pt idx="6">
                  <c:v>488</c:v>
                </c:pt>
                <c:pt idx="7">
                  <c:v>530</c:v>
                </c:pt>
                <c:pt idx="8">
                  <c:v>466</c:v>
                </c:pt>
                <c:pt idx="9">
                  <c:v>471</c:v>
                </c:pt>
              </c:numCache>
            </c:numRef>
          </c:val>
          <c:smooth val="0"/>
          <c:extLst>
            <c:ext xmlns:c16="http://schemas.microsoft.com/office/drawing/2014/chart" uri="{C3380CC4-5D6E-409C-BE32-E72D297353CC}">
              <c16:uniqueId val="{00000001-3716-43A1-9D5E-40AC1197DEFF}"/>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888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1A1A"/>
                </a:solidFill>
                <a:latin typeface="Arial"/>
              </a:defRPr>
            </a:pPr>
            <a:r>
              <a:rPr lang="en-US" sz="1200" b="0" i="0" u="none" strike="noStrike">
                <a:solidFill>
                  <a:srgbClr val="1A1A1A"/>
                </a:solidFill>
                <a:latin typeface="Arial"/>
              </a:rPr>
              <a:t>Patient Distribution by Race — 2023 vs 2024</a:t>
            </a:r>
          </a:p>
        </c:rich>
      </c:tx>
      <c:overlay val="0"/>
    </c:title>
    <c:autoTitleDeleted val="0"/>
    <c:plotArea>
      <c:layout/>
      <c:barChart>
        <c:barDir val="bar"/>
        <c:grouping val="clustered"/>
        <c:varyColors val="0"/>
        <c:ser>
          <c:idx val="0"/>
          <c:order val="0"/>
          <c:tx>
            <c:strRef>
              <c:f>Sheet1!$B$1</c:f>
              <c:strCache>
                <c:ptCount val="1"/>
                <c:pt idx="0">
                  <c:v>2023</c:v>
                </c:pt>
              </c:strCache>
            </c:strRef>
          </c:tx>
          <c:spPr>
            <a:solidFill>
              <a:srgbClr val="E8833A"/>
            </a:solidFill>
            <a:effectLst/>
          </c:spPr>
          <c:invertIfNegative val="0"/>
          <c:dLbls>
            <c:numFmt formatCode="#,##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White</c:v>
                </c:pt>
                <c:pt idx="1">
                  <c:v>African American</c:v>
                </c:pt>
                <c:pt idx="2">
                  <c:v>Two or More Races</c:v>
                </c:pt>
                <c:pt idx="3">
                  <c:v>Asian</c:v>
                </c:pt>
                <c:pt idx="4">
                  <c:v>Declined</c:v>
                </c:pt>
                <c:pt idx="5">
                  <c:v>Pacific Islander</c:v>
                </c:pt>
                <c:pt idx="6">
                  <c:v>Native American</c:v>
                </c:pt>
              </c:strCache>
            </c:strRef>
          </c:cat>
          <c:val>
            <c:numRef>
              <c:f>Sheet1!$B$2:$B$8</c:f>
              <c:numCache>
                <c:formatCode>General</c:formatCode>
                <c:ptCount val="7"/>
                <c:pt idx="0">
                  <c:v>1225</c:v>
                </c:pt>
                <c:pt idx="1">
                  <c:v>920</c:v>
                </c:pt>
                <c:pt idx="2">
                  <c:v>722</c:v>
                </c:pt>
                <c:pt idx="3">
                  <c:v>496</c:v>
                </c:pt>
                <c:pt idx="4">
                  <c:v>476</c:v>
                </c:pt>
                <c:pt idx="5">
                  <c:v>263</c:v>
                </c:pt>
                <c:pt idx="6">
                  <c:v>236</c:v>
                </c:pt>
              </c:numCache>
            </c:numRef>
          </c:val>
          <c:extLst>
            <c:ext xmlns:c16="http://schemas.microsoft.com/office/drawing/2014/chart" uri="{C3380CC4-5D6E-409C-BE32-E72D297353CC}">
              <c16:uniqueId val="{00000000-A3E4-4070-B623-6E226EA3E100}"/>
            </c:ext>
          </c:extLst>
        </c:ser>
        <c:ser>
          <c:idx val="1"/>
          <c:order val="1"/>
          <c:tx>
            <c:strRef>
              <c:f>Sheet1!$C$1</c:f>
              <c:strCache>
                <c:ptCount val="1"/>
                <c:pt idx="0">
                  <c:v>2024</c:v>
                </c:pt>
              </c:strCache>
            </c:strRef>
          </c:tx>
          <c:spPr>
            <a:solidFill>
              <a:srgbClr val="2F6DC4"/>
            </a:solidFill>
            <a:effectLst/>
          </c:spPr>
          <c:invertIfNegative val="0"/>
          <c:dLbls>
            <c:numFmt formatCode="#,##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White</c:v>
                </c:pt>
                <c:pt idx="1">
                  <c:v>African American</c:v>
                </c:pt>
                <c:pt idx="2">
                  <c:v>Two or More Races</c:v>
                </c:pt>
                <c:pt idx="3">
                  <c:v>Asian</c:v>
                </c:pt>
                <c:pt idx="4">
                  <c:v>Declined</c:v>
                </c:pt>
                <c:pt idx="5">
                  <c:v>Pacific Islander</c:v>
                </c:pt>
                <c:pt idx="6">
                  <c:v>Native American</c:v>
                </c:pt>
              </c:strCache>
            </c:strRef>
          </c:cat>
          <c:val>
            <c:numRef>
              <c:f>Sheet1!$C$2:$C$8</c:f>
              <c:numCache>
                <c:formatCode>General</c:formatCode>
                <c:ptCount val="7"/>
                <c:pt idx="0">
                  <c:v>1346</c:v>
                </c:pt>
                <c:pt idx="1">
                  <c:v>1031</c:v>
                </c:pt>
                <c:pt idx="2">
                  <c:v>835</c:v>
                </c:pt>
                <c:pt idx="3">
                  <c:v>564</c:v>
                </c:pt>
                <c:pt idx="4">
                  <c:v>554</c:v>
                </c:pt>
                <c:pt idx="5">
                  <c:v>286</c:v>
                </c:pt>
                <c:pt idx="6">
                  <c:v>262</c:v>
                </c:pt>
              </c:numCache>
            </c:numRef>
          </c:val>
          <c:extLst>
            <c:ext xmlns:c16="http://schemas.microsoft.com/office/drawing/2014/chart" uri="{C3380CC4-5D6E-409C-BE32-E72D297353CC}">
              <c16:uniqueId val="{00000001-A3E4-4070-B623-6E226EA3E10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EEE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88888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9272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4.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7CBAC"/>
          </a:solidFill>
          <a:ln w="12700">
            <a:solidFill>
              <a:srgbClr val="F7CBAC"/>
            </a:solidFill>
            <a:prstDash val="solid"/>
          </a:ln>
        </p:spPr>
      </p:sp>
      <p:sp>
        <p:nvSpPr>
          <p:cNvPr id="3" name="Shape 1"/>
          <p:cNvSpPr/>
          <p:nvPr/>
        </p:nvSpPr>
        <p:spPr>
          <a:xfrm>
            <a:off x="5486400" y="0"/>
            <a:ext cx="6675120" cy="6858000"/>
          </a:xfrm>
          <a:prstGeom prst="rect">
            <a:avLst/>
          </a:prstGeom>
          <a:solidFill>
            <a:srgbClr val="F7CBAC">
              <a:alpha val="70000"/>
            </a:srgbClr>
          </a:solidFill>
          <a:ln w="12700">
            <a:solidFill>
              <a:srgbClr val="F7CBAC">
                <a:alpha val="70000"/>
              </a:srgbClr>
            </a:solidFill>
            <a:prstDash val="solid"/>
          </a:ln>
        </p:spPr>
      </p:sp>
      <p:sp>
        <p:nvSpPr>
          <p:cNvPr id="4" name="Text 2"/>
          <p:cNvSpPr/>
          <p:nvPr/>
        </p:nvSpPr>
        <p:spPr>
          <a:xfrm>
            <a:off x="1371600" y="1828800"/>
            <a:ext cx="9418320" cy="822960"/>
          </a:xfrm>
          <a:prstGeom prst="rect">
            <a:avLst/>
          </a:prstGeom>
          <a:noFill/>
          <a:ln/>
        </p:spPr>
        <p:txBody>
          <a:bodyPr wrap="square" rtlCol="0" anchor="ctr"/>
          <a:lstStyle/>
          <a:p>
            <a:pPr marL="0" indent="0" algn="ctr">
              <a:buNone/>
            </a:pPr>
            <a:r>
              <a:rPr lang="en-US" sz="3800" b="1" dirty="0">
                <a:solidFill>
                  <a:srgbClr val="000000"/>
                </a:solidFill>
                <a:latin typeface="Georgia" pitchFamily="34" charset="0"/>
                <a:ea typeface="Georgia" pitchFamily="34" charset="-122"/>
                <a:cs typeface="Georgia" pitchFamily="34" charset="-120"/>
              </a:rPr>
              <a:t>HOSPITAL EMERGENCY ROOM</a:t>
            </a:r>
            <a:endParaRPr lang="en-US" sz="3800" dirty="0"/>
          </a:p>
        </p:txBody>
      </p:sp>
      <p:sp>
        <p:nvSpPr>
          <p:cNvPr id="5" name="Text 3"/>
          <p:cNvSpPr/>
          <p:nvPr/>
        </p:nvSpPr>
        <p:spPr>
          <a:xfrm>
            <a:off x="1371600" y="2606040"/>
            <a:ext cx="9418320" cy="640080"/>
          </a:xfrm>
          <a:prstGeom prst="rect">
            <a:avLst/>
          </a:prstGeom>
          <a:noFill/>
          <a:ln/>
        </p:spPr>
        <p:txBody>
          <a:bodyPr wrap="square" rtlCol="0" anchor="ctr"/>
          <a:lstStyle/>
          <a:p>
            <a:pPr marL="0" indent="0" algn="ctr">
              <a:buNone/>
            </a:pPr>
            <a:r>
              <a:rPr lang="en-US" sz="3000" b="1" dirty="0">
                <a:solidFill>
                  <a:srgbClr val="000000"/>
                </a:solidFill>
                <a:latin typeface="Georgia" pitchFamily="34" charset="0"/>
                <a:ea typeface="Georgia" pitchFamily="34" charset="-122"/>
                <a:cs typeface="Georgia" pitchFamily="34" charset="-120"/>
              </a:rPr>
              <a:t>DASHBOARD — 2023 &amp; 2024</a:t>
            </a:r>
            <a:endParaRPr lang="en-US" sz="3000" dirty="0"/>
          </a:p>
        </p:txBody>
      </p:sp>
      <p:sp>
        <p:nvSpPr>
          <p:cNvPr id="6" name="Text 4"/>
          <p:cNvSpPr/>
          <p:nvPr/>
        </p:nvSpPr>
        <p:spPr>
          <a:xfrm>
            <a:off x="3200400" y="3566160"/>
            <a:ext cx="5760720" cy="365760"/>
          </a:xfrm>
          <a:prstGeom prst="rect">
            <a:avLst/>
          </a:prstGeom>
          <a:noFill/>
          <a:ln/>
        </p:spPr>
        <p:txBody>
          <a:bodyPr wrap="square" rtlCol="0" anchor="ctr"/>
          <a:lstStyle/>
          <a:p>
            <a:pPr marL="0" indent="0" algn="ctr">
              <a:buNone/>
            </a:pPr>
            <a:r>
              <a:rPr lang="en-US" sz="1600" b="1" dirty="0">
                <a:solidFill>
                  <a:srgbClr val="000000"/>
                </a:solidFill>
                <a:latin typeface="Calibri" pitchFamily="34" charset="0"/>
                <a:ea typeface="Calibri" pitchFamily="34" charset="-122"/>
                <a:cs typeface="Calibri" pitchFamily="34" charset="-120"/>
              </a:rPr>
              <a:t>Presented By:</a:t>
            </a:r>
            <a:endParaRPr lang="en-US" sz="1600" dirty="0"/>
          </a:p>
        </p:txBody>
      </p:sp>
      <p:sp>
        <p:nvSpPr>
          <p:cNvPr id="7" name="Text 5"/>
          <p:cNvSpPr/>
          <p:nvPr/>
        </p:nvSpPr>
        <p:spPr>
          <a:xfrm>
            <a:off x="3200400" y="3913632"/>
            <a:ext cx="5760720" cy="411480"/>
          </a:xfrm>
          <a:prstGeom prst="rect">
            <a:avLst/>
          </a:prstGeom>
          <a:noFill/>
          <a:ln/>
        </p:spPr>
        <p:txBody>
          <a:bodyPr wrap="square" rtlCol="0" anchor="ctr"/>
          <a:lstStyle/>
          <a:p>
            <a:pPr marL="0" indent="0" algn="ctr">
              <a:buNone/>
            </a:pPr>
            <a:r>
              <a:rPr lang="en-US" sz="2000" dirty="0"/>
              <a:t>AYUSH KUMAR YADAV </a:t>
            </a:r>
          </a:p>
        </p:txBody>
      </p:sp>
      <p:sp>
        <p:nvSpPr>
          <p:cNvPr id="8" name="Text 6"/>
          <p:cNvSpPr/>
          <p:nvPr/>
        </p:nvSpPr>
        <p:spPr>
          <a:xfrm>
            <a:off x="3200400" y="4434840"/>
            <a:ext cx="5760720" cy="347472"/>
          </a:xfrm>
          <a:prstGeom prst="rect">
            <a:avLst/>
          </a:prstGeom>
          <a:noFill/>
          <a:ln/>
        </p:spPr>
        <p:txBody>
          <a:bodyPr wrap="square"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Context: Evaluation Presentation</a:t>
            </a:r>
            <a:endParaRPr lang="en-US" sz="1400" dirty="0"/>
          </a:p>
        </p:txBody>
      </p:sp>
      <p:sp>
        <p:nvSpPr>
          <p:cNvPr id="9" name="Text 7"/>
          <p:cNvSpPr/>
          <p:nvPr/>
        </p:nvSpPr>
        <p:spPr>
          <a:xfrm>
            <a:off x="3200400" y="4892040"/>
            <a:ext cx="5760720" cy="347472"/>
          </a:xfrm>
          <a:prstGeom prst="rect">
            <a:avLst/>
          </a:prstGeom>
          <a:noFill/>
          <a:ln/>
        </p:spPr>
        <p:txBody>
          <a:bodyPr wrap="square"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Date: 09/03/2026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F7C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0" y="0"/>
            <a:ext cx="80772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2200000"/>
            <a:ext cx="3474720" cy="650000"/>
          </a:xfrm>
          <a:prstGeom prst="rect">
            <a:avLst/>
          </a:prstGeom>
          <a:noFill/>
        </p:spPr>
        <p:txBody>
          <a:bodyPr wrap="square">
            <a:spAutoFit/>
          </a:bodyPr>
          <a:lstStyle/>
          <a:p>
            <a:r>
              <a:rPr sz="2800" b="1">
                <a:solidFill>
                  <a:srgbClr val="000000"/>
                </a:solidFill>
                <a:latin typeface="Georgia"/>
              </a:rPr>
              <a:t>Purpose</a:t>
            </a:r>
          </a:p>
        </p:txBody>
      </p:sp>
      <p:sp>
        <p:nvSpPr>
          <p:cNvPr id="5" name="TextBox 4"/>
          <p:cNvSpPr txBox="1"/>
          <p:nvPr/>
        </p:nvSpPr>
        <p:spPr>
          <a:xfrm>
            <a:off x="274320" y="2850000"/>
            <a:ext cx="3474720" cy="650000"/>
          </a:xfrm>
          <a:prstGeom prst="rect">
            <a:avLst/>
          </a:prstGeom>
          <a:noFill/>
        </p:spPr>
        <p:txBody>
          <a:bodyPr wrap="square">
            <a:spAutoFit/>
          </a:bodyPr>
          <a:lstStyle/>
          <a:p>
            <a:r>
              <a:rPr sz="2800" b="1">
                <a:solidFill>
                  <a:srgbClr val="000000"/>
                </a:solidFill>
                <a:latin typeface="Georgia"/>
              </a:rPr>
              <a:t>of Project</a:t>
            </a:r>
          </a:p>
        </p:txBody>
      </p:sp>
      <p:sp>
        <p:nvSpPr>
          <p:cNvPr id="6" name="TextBox 5"/>
          <p:cNvSpPr txBox="1"/>
          <p:nvPr/>
        </p:nvSpPr>
        <p:spPr>
          <a:xfrm>
            <a:off x="4400000" y="300000"/>
            <a:ext cx="7400000" cy="480000"/>
          </a:xfrm>
          <a:prstGeom prst="rect">
            <a:avLst/>
          </a:prstGeom>
          <a:noFill/>
        </p:spPr>
        <p:txBody>
          <a:bodyPr wrap="square">
            <a:spAutoFit/>
          </a:bodyPr>
          <a:lstStyle/>
          <a:p>
            <a:r>
              <a:rPr sz="1600" b="1">
                <a:solidFill>
                  <a:srgbClr val="F7CBAC"/>
                </a:solidFill>
                <a:latin typeface="Calibri"/>
              </a:rPr>
              <a:t>Purpose of Project</a:t>
            </a:r>
          </a:p>
        </p:txBody>
      </p:sp>
      <p:sp>
        <p:nvSpPr>
          <p:cNvPr id="7" name="TextBox 6"/>
          <p:cNvSpPr txBox="1"/>
          <p:nvPr/>
        </p:nvSpPr>
        <p:spPr>
          <a:xfrm>
            <a:off x="4400000" y="870000"/>
            <a:ext cx="7400000" cy="5700000"/>
          </a:xfrm>
          <a:prstGeom prst="rect">
            <a:avLst/>
          </a:prstGeom>
          <a:noFill/>
        </p:spPr>
        <p:txBody>
          <a:bodyPr wrap="square">
            <a:spAutoFit/>
          </a:bodyPr>
          <a:lstStyle/>
          <a:p>
            <a:r>
              <a:rPr sz="1200" b="0">
                <a:solidFill>
                  <a:srgbClr val="000000"/>
                </a:solidFill>
                <a:latin typeface="Calibri"/>
              </a:rPr>
              <a:t>We need to create a Hospital Emergency Room Analysis Dashboard to improve efficiency and provide useful insights. This dashboard will help stakeholders monitor, analyze, and make better decisions for managing patients and improving services.</a:t>
            </a:r>
          </a:p>
          <a:p>
            <a:endParaRPr sz="1200" b="0">
              <a:solidFill>
                <a:srgbClr val="000000"/>
              </a:solidFill>
              <a:latin typeface="Calibri"/>
            </a:endParaRPr>
          </a:p>
          <a:p>
            <a:r>
              <a:rPr sz="1200" b="1">
                <a:solidFill>
                  <a:srgbClr val="000000"/>
                </a:solidFill>
                <a:latin typeface="Calibri"/>
              </a:rPr>
              <a:t>Key Goals:</a:t>
            </a:r>
          </a:p>
          <a:p>
            <a:r>
              <a:rPr sz="1200" b="0">
                <a:solidFill>
                  <a:srgbClr val="000000"/>
                </a:solidFill>
                <a:latin typeface="Calibri"/>
              </a:rPr>
              <a:t>•  Monitor patient volumes, wait times, and satisfaction scores daily.</a:t>
            </a:r>
          </a:p>
          <a:p>
            <a:r>
              <a:rPr sz="1200" b="0">
                <a:solidFill>
                  <a:srgbClr val="000000"/>
                </a:solidFill>
                <a:latin typeface="Calibri"/>
              </a:rPr>
              <a:t>•  Analyze admission patterns, gender distribution, and age groups.</a:t>
            </a:r>
          </a:p>
          <a:p>
            <a:r>
              <a:rPr sz="1200" b="0">
                <a:solidFill>
                  <a:srgbClr val="000000"/>
                </a:solidFill>
                <a:latin typeface="Calibri"/>
              </a:rPr>
              <a:t>•  Track department referral trends to identify high-demand areas.</a:t>
            </a:r>
          </a:p>
          <a:p>
            <a:r>
              <a:rPr sz="1200" b="0">
                <a:solidFill>
                  <a:srgbClr val="000000"/>
                </a:solidFill>
                <a:latin typeface="Calibri"/>
              </a:rPr>
              <a:t>•  Enable data-driven decisions to improve ER efficiency and patient care outcomes.</a:t>
            </a:r>
          </a:p>
          <a:p>
            <a:r>
              <a:rPr sz="1200" b="0">
                <a:solidFill>
                  <a:srgbClr val="000000"/>
                </a:solidFill>
                <a:latin typeface="Calibri"/>
              </a:rPr>
              <a:t>•  Compare year-on-year performance (2023 vs 2024) to spot improvements.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F7C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0" y="0"/>
            <a:ext cx="80772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2200000"/>
            <a:ext cx="3474720" cy="650000"/>
          </a:xfrm>
          <a:prstGeom prst="rect">
            <a:avLst/>
          </a:prstGeom>
          <a:noFill/>
        </p:spPr>
        <p:txBody>
          <a:bodyPr wrap="square">
            <a:spAutoFit/>
          </a:bodyPr>
          <a:lstStyle/>
          <a:p>
            <a:r>
              <a:rPr sz="2800" b="1">
                <a:solidFill>
                  <a:srgbClr val="000000"/>
                </a:solidFill>
                <a:latin typeface="Georgia"/>
              </a:rPr>
              <a:t>KPI's</a:t>
            </a:r>
          </a:p>
        </p:txBody>
      </p:sp>
      <p:sp>
        <p:nvSpPr>
          <p:cNvPr id="5" name="TextBox 4"/>
          <p:cNvSpPr txBox="1"/>
          <p:nvPr/>
        </p:nvSpPr>
        <p:spPr>
          <a:xfrm>
            <a:off x="274320" y="2850000"/>
            <a:ext cx="3474720" cy="650000"/>
          </a:xfrm>
          <a:prstGeom prst="rect">
            <a:avLst/>
          </a:prstGeom>
          <a:noFill/>
        </p:spPr>
        <p:txBody>
          <a:bodyPr wrap="square">
            <a:spAutoFit/>
          </a:bodyPr>
          <a:lstStyle/>
          <a:p>
            <a:r>
              <a:rPr sz="2800" b="1">
                <a:solidFill>
                  <a:srgbClr val="000000"/>
                </a:solidFill>
                <a:latin typeface="Georgia"/>
              </a:rPr>
              <a:t>Requirement</a:t>
            </a:r>
          </a:p>
        </p:txBody>
      </p:sp>
      <p:sp>
        <p:nvSpPr>
          <p:cNvPr id="6" name="TextBox 5"/>
          <p:cNvSpPr txBox="1"/>
          <p:nvPr/>
        </p:nvSpPr>
        <p:spPr>
          <a:xfrm>
            <a:off x="4400000" y="300000"/>
            <a:ext cx="7400000" cy="480000"/>
          </a:xfrm>
          <a:prstGeom prst="rect">
            <a:avLst/>
          </a:prstGeom>
          <a:noFill/>
        </p:spPr>
        <p:txBody>
          <a:bodyPr wrap="square">
            <a:spAutoFit/>
          </a:bodyPr>
          <a:lstStyle/>
          <a:p>
            <a:r>
              <a:rPr sz="1600" b="1">
                <a:solidFill>
                  <a:srgbClr val="F7CBAC"/>
                </a:solidFill>
                <a:latin typeface="Calibri"/>
              </a:rPr>
              <a:t>KPI's Requirement</a:t>
            </a:r>
          </a:p>
        </p:txBody>
      </p:sp>
      <p:sp>
        <p:nvSpPr>
          <p:cNvPr id="7" name="Rectangle 6"/>
          <p:cNvSpPr/>
          <p:nvPr/>
        </p:nvSpPr>
        <p:spPr>
          <a:xfrm>
            <a:off x="4400000" y="870000"/>
            <a:ext cx="7400000" cy="6000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20000" y="900000"/>
            <a:ext cx="7180000" cy="560000"/>
          </a:xfrm>
          <a:prstGeom prst="rect">
            <a:avLst/>
          </a:prstGeom>
          <a:noFill/>
        </p:spPr>
        <p:txBody>
          <a:bodyPr wrap="square">
            <a:spAutoFit/>
          </a:bodyPr>
          <a:lstStyle/>
          <a:p>
            <a:r>
              <a:rPr sz="1200" b="1">
                <a:solidFill>
                  <a:srgbClr val="FFFFFF"/>
                </a:solidFill>
                <a:latin typeface="Calibri"/>
              </a:rPr>
              <a:t>Number of Patients:  </a:t>
            </a:r>
            <a:r>
              <a:rPr sz="1200" b="0">
                <a:solidFill>
                  <a:srgbClr val="FFFFFF"/>
                </a:solidFill>
                <a:latin typeface="Calibri"/>
              </a:rPr>
              <a:t>Count total patients visiting the ER each day. Show a daily trend with an area sparkline to spot busy days or seasonal trends.</a:t>
            </a:r>
          </a:p>
        </p:txBody>
      </p:sp>
      <p:sp>
        <p:nvSpPr>
          <p:cNvPr id="9" name="Rectangle 8"/>
          <p:cNvSpPr/>
          <p:nvPr/>
        </p:nvSpPr>
        <p:spPr>
          <a:xfrm>
            <a:off x="4400000" y="1600000"/>
            <a:ext cx="7400000" cy="600000"/>
          </a:xfrm>
          <a:prstGeom prst="rect">
            <a:avLst/>
          </a:prstGeom>
          <a:solidFill>
            <a:srgbClr val="375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20000" y="1630000"/>
            <a:ext cx="7180000" cy="560000"/>
          </a:xfrm>
          <a:prstGeom prst="rect">
            <a:avLst/>
          </a:prstGeom>
          <a:noFill/>
        </p:spPr>
        <p:txBody>
          <a:bodyPr wrap="square">
            <a:spAutoFit/>
          </a:bodyPr>
          <a:lstStyle/>
          <a:p>
            <a:r>
              <a:rPr sz="1200" b="1">
                <a:solidFill>
                  <a:srgbClr val="FFFFFF"/>
                </a:solidFill>
                <a:latin typeface="Calibri"/>
              </a:rPr>
              <a:t>Average Wait Time:  </a:t>
            </a:r>
            <a:r>
              <a:rPr sz="1200" b="0">
                <a:solidFill>
                  <a:srgbClr val="FFFFFF"/>
                </a:solidFill>
                <a:latin typeface="Calibri"/>
              </a:rPr>
              <a:t>Find the average time patients wait to see a medical professional. Use a sparkline to track daily changes and highlight days with longer wait times.</a:t>
            </a:r>
          </a:p>
        </p:txBody>
      </p:sp>
      <p:sp>
        <p:nvSpPr>
          <p:cNvPr id="11" name="Rectangle 10"/>
          <p:cNvSpPr/>
          <p:nvPr/>
        </p:nvSpPr>
        <p:spPr>
          <a:xfrm>
            <a:off x="4400000" y="2330000"/>
            <a:ext cx="7400000" cy="600000"/>
          </a:xfrm>
          <a:prstGeom prst="rect">
            <a:avLst/>
          </a:prstGeom>
          <a:solidFill>
            <a:srgbClr val="2F6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20000" y="2360000"/>
            <a:ext cx="7180000" cy="560000"/>
          </a:xfrm>
          <a:prstGeom prst="rect">
            <a:avLst/>
          </a:prstGeom>
          <a:noFill/>
        </p:spPr>
        <p:txBody>
          <a:bodyPr wrap="square">
            <a:spAutoFit/>
          </a:bodyPr>
          <a:lstStyle/>
          <a:p>
            <a:r>
              <a:rPr sz="1200" b="1">
                <a:solidFill>
                  <a:srgbClr val="FFFFFF"/>
                </a:solidFill>
                <a:latin typeface="Calibri"/>
              </a:rPr>
              <a:t>Patient Satisfaction Score:  </a:t>
            </a:r>
            <a:r>
              <a:rPr sz="1200" b="0">
                <a:solidFill>
                  <a:srgbClr val="FFFFFF"/>
                </a:solidFill>
                <a:latin typeface="Calibri"/>
              </a:rPr>
              <a:t>Check the average daily satisfaction score to assess service quality. Use a sparkline to show trends and spot drops in satisfaction.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F7C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0" y="0"/>
            <a:ext cx="80772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2200000"/>
            <a:ext cx="3474720" cy="650000"/>
          </a:xfrm>
          <a:prstGeom prst="rect">
            <a:avLst/>
          </a:prstGeom>
          <a:noFill/>
        </p:spPr>
        <p:txBody>
          <a:bodyPr wrap="square">
            <a:spAutoFit/>
          </a:bodyPr>
          <a:lstStyle/>
          <a:p>
            <a:r>
              <a:rPr sz="2800" b="1">
                <a:solidFill>
                  <a:srgbClr val="000000"/>
                </a:solidFill>
                <a:latin typeface="Georgia"/>
              </a:rPr>
              <a:t>Charts</a:t>
            </a:r>
          </a:p>
        </p:txBody>
      </p:sp>
      <p:sp>
        <p:nvSpPr>
          <p:cNvPr id="5" name="TextBox 4"/>
          <p:cNvSpPr txBox="1"/>
          <p:nvPr/>
        </p:nvSpPr>
        <p:spPr>
          <a:xfrm>
            <a:off x="274320" y="2850000"/>
            <a:ext cx="3474720" cy="650000"/>
          </a:xfrm>
          <a:prstGeom prst="rect">
            <a:avLst/>
          </a:prstGeom>
          <a:noFill/>
        </p:spPr>
        <p:txBody>
          <a:bodyPr wrap="square">
            <a:spAutoFit/>
          </a:bodyPr>
          <a:lstStyle/>
          <a:p>
            <a:r>
              <a:rPr sz="2800" b="1">
                <a:solidFill>
                  <a:srgbClr val="000000"/>
                </a:solidFill>
                <a:latin typeface="Georgia"/>
              </a:rPr>
              <a:t>to Create</a:t>
            </a:r>
          </a:p>
        </p:txBody>
      </p:sp>
      <p:sp>
        <p:nvSpPr>
          <p:cNvPr id="6" name="TextBox 5"/>
          <p:cNvSpPr txBox="1"/>
          <p:nvPr/>
        </p:nvSpPr>
        <p:spPr>
          <a:xfrm>
            <a:off x="4400000" y="300000"/>
            <a:ext cx="7400000" cy="480000"/>
          </a:xfrm>
          <a:prstGeom prst="rect">
            <a:avLst/>
          </a:prstGeom>
          <a:noFill/>
        </p:spPr>
        <p:txBody>
          <a:bodyPr wrap="square">
            <a:spAutoFit/>
          </a:bodyPr>
          <a:lstStyle/>
          <a:p>
            <a:r>
              <a:rPr sz="1600" b="1">
                <a:solidFill>
                  <a:srgbClr val="F7CBAC"/>
                </a:solidFill>
                <a:latin typeface="Calibri"/>
              </a:rPr>
              <a:t>Charts to Create</a:t>
            </a:r>
          </a:p>
        </p:txBody>
      </p:sp>
      <p:sp>
        <p:nvSpPr>
          <p:cNvPr id="7" name="TextBox 6"/>
          <p:cNvSpPr txBox="1"/>
          <p:nvPr/>
        </p:nvSpPr>
        <p:spPr>
          <a:xfrm>
            <a:off x="4400000" y="870000"/>
            <a:ext cx="7400000" cy="5700000"/>
          </a:xfrm>
          <a:prstGeom prst="rect">
            <a:avLst/>
          </a:prstGeom>
          <a:noFill/>
        </p:spPr>
        <p:txBody>
          <a:bodyPr wrap="square">
            <a:spAutoFit/>
          </a:bodyPr>
          <a:lstStyle/>
          <a:p>
            <a:r>
              <a:rPr sz="1200" b="1">
                <a:solidFill>
                  <a:srgbClr val="000000"/>
                </a:solidFill>
                <a:latin typeface="Calibri"/>
              </a:rPr>
              <a:t>Patient Admission Status:  </a:t>
            </a:r>
            <a:r>
              <a:rPr sz="1200" b="0">
                <a:solidFill>
                  <a:srgbClr val="000000"/>
                </a:solidFill>
                <a:latin typeface="Calibri"/>
              </a:rPr>
              <a:t>Show how many patients were admitted vs. not admitted.</a:t>
            </a:r>
          </a:p>
          <a:p>
            <a:pPr>
              <a:spcBef>
                <a:spcPts val="800"/>
              </a:spcBef>
            </a:pPr>
            <a:r>
              <a:rPr sz="1200" b="1">
                <a:solidFill>
                  <a:srgbClr val="000000"/>
                </a:solidFill>
                <a:latin typeface="Calibri"/>
              </a:rPr>
              <a:t>Patient Age Distribution:  </a:t>
            </a:r>
            <a:r>
              <a:rPr sz="1200" b="0">
                <a:solidFill>
                  <a:srgbClr val="000000"/>
                </a:solidFill>
                <a:latin typeface="Calibri"/>
              </a:rPr>
              <a:t>Group patients by age brackets to understand demographics.</a:t>
            </a:r>
          </a:p>
          <a:p>
            <a:pPr>
              <a:spcBef>
                <a:spcPts val="800"/>
              </a:spcBef>
            </a:pPr>
            <a:r>
              <a:rPr sz="1200" b="1">
                <a:solidFill>
                  <a:srgbClr val="000000"/>
                </a:solidFill>
                <a:latin typeface="Calibri"/>
              </a:rPr>
              <a:t>Timeliness:  </a:t>
            </a:r>
            <a:r>
              <a:rPr sz="1200" b="0">
                <a:solidFill>
                  <a:srgbClr val="000000"/>
                </a:solidFill>
                <a:latin typeface="Calibri"/>
              </a:rPr>
              <a:t>Measure the percentage of patients seen within 30 minutes.</a:t>
            </a:r>
          </a:p>
          <a:p>
            <a:pPr>
              <a:spcBef>
                <a:spcPts val="800"/>
              </a:spcBef>
            </a:pPr>
            <a:r>
              <a:rPr sz="1200" b="1">
                <a:solidFill>
                  <a:srgbClr val="000000"/>
                </a:solidFill>
                <a:latin typeface="Calibri"/>
              </a:rPr>
              <a:t>Gender Analysis:  </a:t>
            </a:r>
            <a:r>
              <a:rPr sz="1200" b="0">
                <a:solidFill>
                  <a:srgbClr val="000000"/>
                </a:solidFill>
                <a:latin typeface="Calibri"/>
              </a:rPr>
              <a:t>Display the number of patients by gender.</a:t>
            </a:r>
          </a:p>
          <a:p>
            <a:pPr>
              <a:spcBef>
                <a:spcPts val="800"/>
              </a:spcBef>
            </a:pPr>
            <a:r>
              <a:rPr sz="1200" b="1">
                <a:solidFill>
                  <a:srgbClr val="000000"/>
                </a:solidFill>
                <a:latin typeface="Calibri"/>
              </a:rPr>
              <a:t>Department Referrals:  </a:t>
            </a:r>
            <a:r>
              <a:rPr sz="1200" b="0">
                <a:solidFill>
                  <a:srgbClr val="000000"/>
                </a:solidFill>
                <a:latin typeface="Calibri"/>
              </a:rPr>
              <a:t>Check which departments patients are referred to the most.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7CBAC"/>
          </a:solidFill>
          <a:ln w="12700">
            <a:solidFill>
              <a:srgbClr val="F7CBAC"/>
            </a:solidFill>
            <a:prstDash val="solid"/>
          </a:ln>
        </p:spPr>
      </p:sp>
      <p:sp>
        <p:nvSpPr>
          <p:cNvPr id="3" name="Shape 1"/>
          <p:cNvSpPr/>
          <p:nvPr/>
        </p:nvSpPr>
        <p:spPr>
          <a:xfrm>
            <a:off x="0" y="0"/>
            <a:ext cx="4114800" cy="2286000"/>
          </a:xfrm>
          <a:prstGeom prst="rect">
            <a:avLst/>
          </a:prstGeom>
          <a:solidFill>
            <a:srgbClr val="F7CBAC">
              <a:alpha val="80000"/>
            </a:srgbClr>
          </a:solidFill>
          <a:ln w="12700">
            <a:solidFill>
              <a:srgbClr val="F7CBAC">
                <a:alpha val="80000"/>
              </a:srgbClr>
            </a:solidFill>
            <a:prstDash val="solid"/>
          </a:ln>
        </p:spPr>
      </p:sp>
      <p:sp>
        <p:nvSpPr>
          <p:cNvPr id="4" name="Shape 2"/>
          <p:cNvSpPr/>
          <p:nvPr/>
        </p:nvSpPr>
        <p:spPr>
          <a:xfrm>
            <a:off x="4114800" y="0"/>
            <a:ext cx="8046720" cy="6858000"/>
          </a:xfrm>
          <a:prstGeom prst="rect">
            <a:avLst/>
          </a:prstGeom>
          <a:solidFill>
            <a:srgbClr val="FFFFFF"/>
          </a:solidFill>
          <a:ln w="12700">
            <a:solidFill>
              <a:srgbClr val="FFFFFF"/>
            </a:solidFill>
            <a:prstDash val="solid"/>
          </a:ln>
        </p:spPr>
      </p:sp>
      <p:sp>
        <p:nvSpPr>
          <p:cNvPr id="5" name="Text 3"/>
          <p:cNvSpPr/>
          <p:nvPr/>
        </p:nvSpPr>
        <p:spPr>
          <a:xfrm>
            <a:off x="274320" y="256032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Problem</a:t>
            </a:r>
            <a:endParaRPr lang="en-US" sz="2800" dirty="0"/>
          </a:p>
        </p:txBody>
      </p:sp>
      <p:sp>
        <p:nvSpPr>
          <p:cNvPr id="6" name="Text 4"/>
          <p:cNvSpPr/>
          <p:nvPr/>
        </p:nvSpPr>
        <p:spPr>
          <a:xfrm>
            <a:off x="274320" y="315468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Statement/</a:t>
            </a:r>
            <a:endParaRPr lang="en-US" sz="2800" dirty="0"/>
          </a:p>
        </p:txBody>
      </p:sp>
      <p:sp>
        <p:nvSpPr>
          <p:cNvPr id="7" name="Text 5"/>
          <p:cNvSpPr/>
          <p:nvPr/>
        </p:nvSpPr>
        <p:spPr>
          <a:xfrm>
            <a:off x="274320" y="374904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Overview</a:t>
            </a:r>
            <a:endParaRPr lang="en-US" sz="2800" dirty="0"/>
          </a:p>
        </p:txBody>
      </p:sp>
      <p:sp>
        <p:nvSpPr>
          <p:cNvPr id="8" name="Text 6"/>
          <p:cNvSpPr/>
          <p:nvPr/>
        </p:nvSpPr>
        <p:spPr>
          <a:xfrm>
            <a:off x="4343400" y="320040"/>
            <a:ext cx="7498080" cy="411480"/>
          </a:xfrm>
          <a:prstGeom prst="rect">
            <a:avLst/>
          </a:prstGeom>
          <a:noFill/>
          <a:ln/>
        </p:spPr>
        <p:txBody>
          <a:bodyPr wrap="square" rtlCol="0" anchor="ctr"/>
          <a:lstStyle/>
          <a:p>
            <a:pPr marL="0" indent="0">
              <a:buNone/>
            </a:pPr>
            <a:r>
              <a:rPr lang="en-US" sz="1600" b="1" dirty="0">
                <a:solidFill>
                  <a:srgbClr val="F7CBAC"/>
                </a:solidFill>
                <a:latin typeface="Calibri" pitchFamily="34" charset="0"/>
                <a:ea typeface="Calibri" pitchFamily="34" charset="-122"/>
                <a:cs typeface="Calibri" pitchFamily="34" charset="-120"/>
              </a:rPr>
              <a:t>Problem Statement</a:t>
            </a:r>
            <a:endParaRPr lang="en-US" sz="1600" dirty="0"/>
          </a:p>
        </p:txBody>
      </p:sp>
      <p:sp>
        <p:nvSpPr>
          <p:cNvPr id="9" name="Shape 7"/>
          <p:cNvSpPr/>
          <p:nvPr/>
        </p:nvSpPr>
        <p:spPr>
          <a:xfrm>
            <a:off x="4389120" y="886968"/>
            <a:ext cx="109728" cy="109728"/>
          </a:xfrm>
          <a:prstGeom prst="ellipse">
            <a:avLst/>
          </a:prstGeom>
          <a:solidFill>
            <a:srgbClr val="ED7D31"/>
          </a:solidFill>
          <a:ln w="12700">
            <a:solidFill>
              <a:srgbClr val="ED7D31"/>
            </a:solidFill>
            <a:prstDash val="solid"/>
          </a:ln>
        </p:spPr>
      </p:sp>
      <p:sp>
        <p:nvSpPr>
          <p:cNvPr id="10" name="Text 8"/>
          <p:cNvSpPr/>
          <p:nvPr/>
        </p:nvSpPr>
        <p:spPr>
          <a:xfrm>
            <a:off x="4572000" y="777240"/>
            <a:ext cx="7132320" cy="43891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The Hospital ER generates large volumes of patient data including wait times, satisfaction scores, admission status, and department referrals.</a:t>
            </a:r>
            <a:endParaRPr lang="en-US" sz="1200" dirty="0"/>
          </a:p>
        </p:txBody>
      </p:sp>
      <p:sp>
        <p:nvSpPr>
          <p:cNvPr id="11" name="Shape 9"/>
          <p:cNvSpPr/>
          <p:nvPr/>
        </p:nvSpPr>
        <p:spPr>
          <a:xfrm>
            <a:off x="4389120" y="1362456"/>
            <a:ext cx="109728" cy="109728"/>
          </a:xfrm>
          <a:prstGeom prst="ellipse">
            <a:avLst/>
          </a:prstGeom>
          <a:solidFill>
            <a:srgbClr val="ED7D31"/>
          </a:solidFill>
          <a:ln w="12700">
            <a:solidFill>
              <a:srgbClr val="ED7D31"/>
            </a:solidFill>
            <a:prstDash val="solid"/>
          </a:ln>
        </p:spPr>
      </p:sp>
      <p:sp>
        <p:nvSpPr>
          <p:cNvPr id="12" name="Text 10"/>
          <p:cNvSpPr/>
          <p:nvPr/>
        </p:nvSpPr>
        <p:spPr>
          <a:xfrm>
            <a:off x="4572000" y="1252728"/>
            <a:ext cx="7132320" cy="43891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An Excel dashboard is required to organize, analyse, and visualize this data for hospital administration and medical staff.</a:t>
            </a:r>
            <a:endParaRPr lang="en-US" sz="1200" dirty="0"/>
          </a:p>
        </p:txBody>
      </p:sp>
      <p:sp>
        <p:nvSpPr>
          <p:cNvPr id="13" name="Shape 11"/>
          <p:cNvSpPr/>
          <p:nvPr/>
        </p:nvSpPr>
        <p:spPr>
          <a:xfrm>
            <a:off x="4389120" y="1837944"/>
            <a:ext cx="109728" cy="109728"/>
          </a:xfrm>
          <a:prstGeom prst="ellipse">
            <a:avLst/>
          </a:prstGeom>
          <a:solidFill>
            <a:srgbClr val="ED7D31"/>
          </a:solidFill>
          <a:ln w="12700">
            <a:solidFill>
              <a:srgbClr val="ED7D31"/>
            </a:solidFill>
            <a:prstDash val="solid"/>
          </a:ln>
        </p:spPr>
      </p:sp>
      <p:sp>
        <p:nvSpPr>
          <p:cNvPr id="14" name="Text 12"/>
          <p:cNvSpPr/>
          <p:nvPr/>
        </p:nvSpPr>
        <p:spPr>
          <a:xfrm>
            <a:off x="4572000" y="1728216"/>
            <a:ext cx="7132320" cy="43891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The dashboard should present key metrics such as patient volume trends, wait time patterns, admission rates, and department referral breakdowns.</a:t>
            </a:r>
            <a:endParaRPr lang="en-US" sz="1200" dirty="0"/>
          </a:p>
        </p:txBody>
      </p:sp>
      <p:sp>
        <p:nvSpPr>
          <p:cNvPr id="15" name="Text 13"/>
          <p:cNvSpPr/>
          <p:nvPr/>
        </p:nvSpPr>
        <p:spPr>
          <a:xfrm>
            <a:off x="4343400" y="2514600"/>
            <a:ext cx="7498080" cy="411480"/>
          </a:xfrm>
          <a:prstGeom prst="rect">
            <a:avLst/>
          </a:prstGeom>
          <a:noFill/>
          <a:ln/>
        </p:spPr>
        <p:txBody>
          <a:bodyPr wrap="square" rtlCol="0" anchor="ctr"/>
          <a:lstStyle/>
          <a:p>
            <a:pPr marL="0" indent="0">
              <a:buNone/>
            </a:pPr>
            <a:r>
              <a:rPr lang="en-US" sz="1600" b="1" dirty="0">
                <a:solidFill>
                  <a:srgbClr val="F7CBAC"/>
                </a:solidFill>
                <a:latin typeface="Calibri" pitchFamily="34" charset="0"/>
                <a:ea typeface="Calibri" pitchFamily="34" charset="-122"/>
                <a:cs typeface="Calibri" pitchFamily="34" charset="-120"/>
              </a:rPr>
              <a:t>Overview</a:t>
            </a:r>
            <a:endParaRPr lang="en-US" sz="1600" dirty="0"/>
          </a:p>
        </p:txBody>
      </p:sp>
      <p:sp>
        <p:nvSpPr>
          <p:cNvPr id="16" name="Shape 14"/>
          <p:cNvSpPr/>
          <p:nvPr/>
        </p:nvSpPr>
        <p:spPr>
          <a:xfrm>
            <a:off x="4389120" y="3081528"/>
            <a:ext cx="109728" cy="109728"/>
          </a:xfrm>
          <a:prstGeom prst="ellipse">
            <a:avLst/>
          </a:prstGeom>
          <a:solidFill>
            <a:srgbClr val="ED7D31"/>
          </a:solidFill>
          <a:ln w="12700">
            <a:solidFill>
              <a:srgbClr val="ED7D31"/>
            </a:solidFill>
            <a:prstDash val="solid"/>
          </a:ln>
        </p:spPr>
      </p:sp>
      <p:sp>
        <p:nvSpPr>
          <p:cNvPr id="17" name="Text 15"/>
          <p:cNvSpPr/>
          <p:nvPr/>
        </p:nvSpPr>
        <p:spPr>
          <a:xfrm>
            <a:off x="4572000" y="2971800"/>
            <a:ext cx="7132320" cy="43891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Provide a single dashboard view to analyse 9,216 patient records across 2023 and 2024.</a:t>
            </a:r>
            <a:endParaRPr lang="en-US" sz="1200" dirty="0"/>
          </a:p>
        </p:txBody>
      </p:sp>
      <p:sp>
        <p:nvSpPr>
          <p:cNvPr id="18" name="Shape 16"/>
          <p:cNvSpPr/>
          <p:nvPr/>
        </p:nvSpPr>
        <p:spPr>
          <a:xfrm>
            <a:off x="4389120" y="3557016"/>
            <a:ext cx="109728" cy="109728"/>
          </a:xfrm>
          <a:prstGeom prst="ellipse">
            <a:avLst/>
          </a:prstGeom>
          <a:solidFill>
            <a:srgbClr val="ED7D31"/>
          </a:solidFill>
          <a:ln w="12700">
            <a:solidFill>
              <a:srgbClr val="ED7D31"/>
            </a:solidFill>
            <a:prstDash val="solid"/>
          </a:ln>
        </p:spPr>
      </p:sp>
      <p:sp>
        <p:nvSpPr>
          <p:cNvPr id="19" name="Text 17"/>
          <p:cNvSpPr/>
          <p:nvPr/>
        </p:nvSpPr>
        <p:spPr>
          <a:xfrm>
            <a:off x="4572000" y="3447288"/>
            <a:ext cx="7132320" cy="43891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Identify trends in patient volume, wait time, and satisfaction scores month-by-month.</a:t>
            </a:r>
            <a:endParaRPr lang="en-US" sz="1200" dirty="0"/>
          </a:p>
        </p:txBody>
      </p:sp>
      <p:sp>
        <p:nvSpPr>
          <p:cNvPr id="20" name="Shape 18"/>
          <p:cNvSpPr/>
          <p:nvPr/>
        </p:nvSpPr>
        <p:spPr>
          <a:xfrm>
            <a:off x="4389120" y="4032504"/>
            <a:ext cx="109728" cy="109728"/>
          </a:xfrm>
          <a:prstGeom prst="ellipse">
            <a:avLst/>
          </a:prstGeom>
          <a:solidFill>
            <a:srgbClr val="ED7D31"/>
          </a:solidFill>
          <a:ln w="12700">
            <a:solidFill>
              <a:srgbClr val="ED7D31"/>
            </a:solidFill>
            <a:prstDash val="solid"/>
          </a:ln>
        </p:spPr>
      </p:sp>
      <p:sp>
        <p:nvSpPr>
          <p:cNvPr id="21" name="Text 19"/>
          <p:cNvSpPr/>
          <p:nvPr/>
        </p:nvSpPr>
        <p:spPr>
          <a:xfrm>
            <a:off x="4572000" y="3922776"/>
            <a:ext cx="7132320" cy="43891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Understand admission patterns including admitted vs. not admitted and on-time vs. delayed attendance.</a:t>
            </a:r>
            <a:endParaRPr lang="en-US" sz="1200" dirty="0"/>
          </a:p>
        </p:txBody>
      </p:sp>
      <p:sp>
        <p:nvSpPr>
          <p:cNvPr id="22" name="Shape 20"/>
          <p:cNvSpPr/>
          <p:nvPr/>
        </p:nvSpPr>
        <p:spPr>
          <a:xfrm>
            <a:off x="4389120" y="4507992"/>
            <a:ext cx="109728" cy="109728"/>
          </a:xfrm>
          <a:prstGeom prst="ellipse">
            <a:avLst/>
          </a:prstGeom>
          <a:solidFill>
            <a:srgbClr val="ED7D31"/>
          </a:solidFill>
          <a:ln w="12700">
            <a:solidFill>
              <a:srgbClr val="ED7D31"/>
            </a:solidFill>
            <a:prstDash val="solid"/>
          </a:ln>
        </p:spPr>
      </p:sp>
      <p:sp>
        <p:nvSpPr>
          <p:cNvPr id="23" name="Text 21"/>
          <p:cNvSpPr/>
          <p:nvPr/>
        </p:nvSpPr>
        <p:spPr>
          <a:xfrm>
            <a:off x="4572000" y="4398264"/>
            <a:ext cx="7132320" cy="43891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Compare patient demographics — gender, age group, race — and department referral distributions.</a:t>
            </a:r>
            <a:endParaRPr lang="en-US" sz="1200" dirty="0"/>
          </a:p>
        </p:txBody>
      </p:sp>
      <p:sp>
        <p:nvSpPr>
          <p:cNvPr id="24" name="Shape 22"/>
          <p:cNvSpPr/>
          <p:nvPr/>
        </p:nvSpPr>
        <p:spPr>
          <a:xfrm>
            <a:off x="4389120" y="4983480"/>
            <a:ext cx="109728" cy="109728"/>
          </a:xfrm>
          <a:prstGeom prst="ellipse">
            <a:avLst/>
          </a:prstGeom>
          <a:solidFill>
            <a:srgbClr val="ED7D31"/>
          </a:solidFill>
          <a:ln w="12700">
            <a:solidFill>
              <a:srgbClr val="ED7D31"/>
            </a:solidFill>
            <a:prstDash val="solid"/>
          </a:ln>
        </p:spPr>
      </p:sp>
      <p:sp>
        <p:nvSpPr>
          <p:cNvPr id="25" name="Text 23"/>
          <p:cNvSpPr/>
          <p:nvPr/>
        </p:nvSpPr>
        <p:spPr>
          <a:xfrm>
            <a:off x="4572000" y="4873752"/>
            <a:ext cx="7132320" cy="43891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Enable administrators to spot peak periods, high-load departments, and service quality gaps.</a:t>
            </a:r>
            <a:endParaRPr lang="en-US" sz="1200" dirty="0"/>
          </a:p>
        </p:txBody>
      </p:sp>
      <p:sp>
        <p:nvSpPr>
          <p:cNvPr id="26" name="Shape 24"/>
          <p:cNvSpPr/>
          <p:nvPr/>
        </p:nvSpPr>
        <p:spPr>
          <a:xfrm>
            <a:off x="4389120" y="5458968"/>
            <a:ext cx="109728" cy="109728"/>
          </a:xfrm>
          <a:prstGeom prst="ellipse">
            <a:avLst/>
          </a:prstGeom>
          <a:solidFill>
            <a:srgbClr val="ED7D31"/>
          </a:solidFill>
          <a:ln w="12700">
            <a:solidFill>
              <a:srgbClr val="ED7D31"/>
            </a:solidFill>
            <a:prstDash val="solid"/>
          </a:ln>
        </p:spPr>
      </p:sp>
      <p:sp>
        <p:nvSpPr>
          <p:cNvPr id="27" name="Text 25"/>
          <p:cNvSpPr/>
          <p:nvPr/>
        </p:nvSpPr>
        <p:spPr>
          <a:xfrm>
            <a:off x="4572000" y="5349240"/>
            <a:ext cx="7132320" cy="43891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Support data-driven decisions to improve ER efficiency and patient care outcomes.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7CBAC"/>
          </a:solidFill>
          <a:ln w="12700">
            <a:solidFill>
              <a:srgbClr val="F7CBAC"/>
            </a:solidFill>
            <a:prstDash val="solid"/>
          </a:ln>
        </p:spPr>
      </p:sp>
      <p:sp>
        <p:nvSpPr>
          <p:cNvPr id="3" name="Shape 1"/>
          <p:cNvSpPr/>
          <p:nvPr/>
        </p:nvSpPr>
        <p:spPr>
          <a:xfrm>
            <a:off x="0" y="0"/>
            <a:ext cx="4114800" cy="2286000"/>
          </a:xfrm>
          <a:prstGeom prst="rect">
            <a:avLst/>
          </a:prstGeom>
          <a:solidFill>
            <a:srgbClr val="F7CBAC">
              <a:alpha val="80000"/>
            </a:srgbClr>
          </a:solidFill>
          <a:ln w="12700">
            <a:solidFill>
              <a:srgbClr val="F7CBAC">
                <a:alpha val="80000"/>
              </a:srgbClr>
            </a:solidFill>
            <a:prstDash val="solid"/>
          </a:ln>
        </p:spPr>
      </p:sp>
      <p:sp>
        <p:nvSpPr>
          <p:cNvPr id="4" name="Shape 2"/>
          <p:cNvSpPr/>
          <p:nvPr/>
        </p:nvSpPr>
        <p:spPr>
          <a:xfrm>
            <a:off x="4114800" y="0"/>
            <a:ext cx="8046720" cy="6858000"/>
          </a:xfrm>
          <a:prstGeom prst="rect">
            <a:avLst/>
          </a:prstGeom>
          <a:solidFill>
            <a:srgbClr val="FFFFFF"/>
          </a:solidFill>
          <a:ln w="12700">
            <a:solidFill>
              <a:srgbClr val="FFFFFF"/>
            </a:solidFill>
            <a:prstDash val="solid"/>
          </a:ln>
        </p:spPr>
      </p:sp>
      <p:sp>
        <p:nvSpPr>
          <p:cNvPr id="5" name="Text 3"/>
          <p:cNvSpPr/>
          <p:nvPr/>
        </p:nvSpPr>
        <p:spPr>
          <a:xfrm>
            <a:off x="274320" y="237744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Who Will</a:t>
            </a:r>
            <a:endParaRPr lang="en-US" sz="2800" dirty="0"/>
          </a:p>
        </p:txBody>
      </p:sp>
      <p:sp>
        <p:nvSpPr>
          <p:cNvPr id="6" name="Text 4"/>
          <p:cNvSpPr/>
          <p:nvPr/>
        </p:nvSpPr>
        <p:spPr>
          <a:xfrm>
            <a:off x="274320" y="297180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Use This</a:t>
            </a:r>
            <a:endParaRPr lang="en-US" sz="2800" dirty="0"/>
          </a:p>
        </p:txBody>
      </p:sp>
      <p:sp>
        <p:nvSpPr>
          <p:cNvPr id="7" name="Text 5"/>
          <p:cNvSpPr/>
          <p:nvPr/>
        </p:nvSpPr>
        <p:spPr>
          <a:xfrm>
            <a:off x="274320" y="356616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Dashboard?</a:t>
            </a:r>
            <a:endParaRPr lang="en-US" sz="2800" dirty="0"/>
          </a:p>
        </p:txBody>
      </p:sp>
      <p:sp>
        <p:nvSpPr>
          <p:cNvPr id="8" name="Text 6"/>
          <p:cNvSpPr/>
          <p:nvPr/>
        </p:nvSpPr>
        <p:spPr>
          <a:xfrm>
            <a:off x="4343400" y="320040"/>
            <a:ext cx="7498080" cy="384048"/>
          </a:xfrm>
          <a:prstGeom prst="rect">
            <a:avLst/>
          </a:prstGeom>
          <a:noFill/>
          <a:ln/>
        </p:spPr>
        <p:txBody>
          <a:bodyPr wrap="square" rtlCol="0" anchor="ctr"/>
          <a:lstStyle/>
          <a:p>
            <a:pPr marL="0" indent="0">
              <a:buNone/>
            </a:pPr>
            <a:r>
              <a:rPr lang="en-US" sz="1600" b="1" dirty="0">
                <a:solidFill>
                  <a:srgbClr val="F7CBAC"/>
                </a:solidFill>
                <a:latin typeface="Calibri" pitchFamily="34" charset="0"/>
                <a:ea typeface="Calibri" pitchFamily="34" charset="-122"/>
                <a:cs typeface="Calibri" pitchFamily="34" charset="-120"/>
              </a:rPr>
              <a:t>Primary Users</a:t>
            </a:r>
            <a:endParaRPr lang="en-US" sz="1600" dirty="0"/>
          </a:p>
        </p:txBody>
      </p:sp>
      <p:sp>
        <p:nvSpPr>
          <p:cNvPr id="9" name="Shape 7"/>
          <p:cNvSpPr/>
          <p:nvPr/>
        </p:nvSpPr>
        <p:spPr>
          <a:xfrm>
            <a:off x="4434840" y="905256"/>
            <a:ext cx="109728" cy="109728"/>
          </a:xfrm>
          <a:prstGeom prst="ellipse">
            <a:avLst/>
          </a:prstGeom>
          <a:solidFill>
            <a:srgbClr val="ED7D31"/>
          </a:solidFill>
          <a:ln w="12700">
            <a:solidFill>
              <a:srgbClr val="ED7D31"/>
            </a:solidFill>
            <a:prstDash val="solid"/>
          </a:ln>
        </p:spPr>
      </p:sp>
      <p:sp>
        <p:nvSpPr>
          <p:cNvPr id="10" name="Text 8"/>
          <p:cNvSpPr/>
          <p:nvPr/>
        </p:nvSpPr>
        <p:spPr>
          <a:xfrm>
            <a:off x="4663440" y="749808"/>
            <a:ext cx="7132320" cy="347472"/>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Hospital Administrators &amp; Management</a:t>
            </a:r>
            <a:endParaRPr lang="en-US" sz="1300" dirty="0"/>
          </a:p>
        </p:txBody>
      </p:sp>
      <p:sp>
        <p:nvSpPr>
          <p:cNvPr id="11" name="Text 9"/>
          <p:cNvSpPr/>
          <p:nvPr/>
        </p:nvSpPr>
        <p:spPr>
          <a:xfrm>
            <a:off x="4663440" y="1078992"/>
            <a:ext cx="7132320" cy="34747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To monitor ER performance, staffing efficiency, and budget allocation.</a:t>
            </a:r>
            <a:endParaRPr lang="en-US" sz="1200" dirty="0"/>
          </a:p>
        </p:txBody>
      </p:sp>
      <p:sp>
        <p:nvSpPr>
          <p:cNvPr id="12" name="Shape 10"/>
          <p:cNvSpPr/>
          <p:nvPr/>
        </p:nvSpPr>
        <p:spPr>
          <a:xfrm>
            <a:off x="4434840" y="1819656"/>
            <a:ext cx="109728" cy="109728"/>
          </a:xfrm>
          <a:prstGeom prst="ellipse">
            <a:avLst/>
          </a:prstGeom>
          <a:solidFill>
            <a:srgbClr val="ED7D31"/>
          </a:solidFill>
          <a:ln w="12700">
            <a:solidFill>
              <a:srgbClr val="ED7D31"/>
            </a:solidFill>
            <a:prstDash val="solid"/>
          </a:ln>
        </p:spPr>
      </p:sp>
      <p:sp>
        <p:nvSpPr>
          <p:cNvPr id="13" name="Text 11"/>
          <p:cNvSpPr/>
          <p:nvPr/>
        </p:nvSpPr>
        <p:spPr>
          <a:xfrm>
            <a:off x="4663440" y="1664208"/>
            <a:ext cx="7132320" cy="347472"/>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ER Doctors &amp; Nurses</a:t>
            </a:r>
            <a:endParaRPr lang="en-US" sz="1300" dirty="0"/>
          </a:p>
        </p:txBody>
      </p:sp>
      <p:sp>
        <p:nvSpPr>
          <p:cNvPr id="14" name="Text 12"/>
          <p:cNvSpPr/>
          <p:nvPr/>
        </p:nvSpPr>
        <p:spPr>
          <a:xfrm>
            <a:off x="4663440" y="1993392"/>
            <a:ext cx="7132320" cy="34747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For patient flow analysis, wait time reduction, and shift planning.</a:t>
            </a:r>
            <a:endParaRPr lang="en-US" sz="1200" dirty="0"/>
          </a:p>
        </p:txBody>
      </p:sp>
      <p:sp>
        <p:nvSpPr>
          <p:cNvPr id="15" name="Text 13"/>
          <p:cNvSpPr/>
          <p:nvPr/>
        </p:nvSpPr>
        <p:spPr>
          <a:xfrm>
            <a:off x="4343400" y="2697480"/>
            <a:ext cx="7498080" cy="384048"/>
          </a:xfrm>
          <a:prstGeom prst="rect">
            <a:avLst/>
          </a:prstGeom>
          <a:noFill/>
          <a:ln/>
        </p:spPr>
        <p:txBody>
          <a:bodyPr wrap="square" rtlCol="0" anchor="ctr"/>
          <a:lstStyle/>
          <a:p>
            <a:pPr marL="0" indent="0">
              <a:buNone/>
            </a:pPr>
            <a:r>
              <a:rPr lang="en-US" sz="1600" b="1" dirty="0">
                <a:solidFill>
                  <a:srgbClr val="F7CBAC"/>
                </a:solidFill>
                <a:latin typeface="Calibri" pitchFamily="34" charset="0"/>
                <a:ea typeface="Calibri" pitchFamily="34" charset="-122"/>
                <a:cs typeface="Calibri" pitchFamily="34" charset="-120"/>
              </a:rPr>
              <a:t>Secondary Users</a:t>
            </a:r>
            <a:endParaRPr lang="en-US" sz="1600" dirty="0"/>
          </a:p>
        </p:txBody>
      </p:sp>
      <p:sp>
        <p:nvSpPr>
          <p:cNvPr id="16" name="Shape 14"/>
          <p:cNvSpPr/>
          <p:nvPr/>
        </p:nvSpPr>
        <p:spPr>
          <a:xfrm>
            <a:off x="4434840" y="3282696"/>
            <a:ext cx="109728" cy="109728"/>
          </a:xfrm>
          <a:prstGeom prst="ellipse">
            <a:avLst/>
          </a:prstGeom>
          <a:solidFill>
            <a:srgbClr val="ED7D31"/>
          </a:solidFill>
          <a:ln w="12700">
            <a:solidFill>
              <a:srgbClr val="ED7D31"/>
            </a:solidFill>
            <a:prstDash val="solid"/>
          </a:ln>
        </p:spPr>
      </p:sp>
      <p:sp>
        <p:nvSpPr>
          <p:cNvPr id="17" name="Text 15"/>
          <p:cNvSpPr/>
          <p:nvPr/>
        </p:nvSpPr>
        <p:spPr>
          <a:xfrm>
            <a:off x="4663440" y="3127248"/>
            <a:ext cx="7132320" cy="347472"/>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Quality Assurance &amp; Compliance Teams</a:t>
            </a:r>
            <a:endParaRPr lang="en-US" sz="1300" dirty="0"/>
          </a:p>
        </p:txBody>
      </p:sp>
      <p:sp>
        <p:nvSpPr>
          <p:cNvPr id="18" name="Text 16"/>
          <p:cNvSpPr/>
          <p:nvPr/>
        </p:nvSpPr>
        <p:spPr>
          <a:xfrm>
            <a:off x="4663440" y="3456432"/>
            <a:ext cx="7132320" cy="310896"/>
          </a:xfrm>
          <a:prstGeom prst="rect">
            <a:avLst/>
          </a:prstGeom>
          <a:noFill/>
          <a:ln/>
        </p:spPr>
        <p:txBody>
          <a:bodyPr wrap="square" rtlCol="0" anchor="ctr"/>
          <a:lstStyle/>
          <a:p>
            <a:pPr marL="0" indent="0">
              <a:buNone/>
            </a:pPr>
            <a:r>
              <a:rPr lang="en-US" sz="1150" dirty="0">
                <a:solidFill>
                  <a:srgbClr val="000000"/>
                </a:solidFill>
                <a:latin typeface="Calibri" pitchFamily="34" charset="0"/>
                <a:ea typeface="Calibri" pitchFamily="34" charset="-122"/>
                <a:cs typeface="Calibri" pitchFamily="34" charset="-120"/>
              </a:rPr>
              <a:t>To track patient satisfaction scores and service standards.</a:t>
            </a:r>
            <a:endParaRPr lang="en-US" sz="1150" dirty="0"/>
          </a:p>
        </p:txBody>
      </p:sp>
      <p:sp>
        <p:nvSpPr>
          <p:cNvPr id="19" name="Shape 17"/>
          <p:cNvSpPr/>
          <p:nvPr/>
        </p:nvSpPr>
        <p:spPr>
          <a:xfrm>
            <a:off x="4434840" y="4087368"/>
            <a:ext cx="109728" cy="109728"/>
          </a:xfrm>
          <a:prstGeom prst="ellipse">
            <a:avLst/>
          </a:prstGeom>
          <a:solidFill>
            <a:srgbClr val="ED7D31"/>
          </a:solidFill>
          <a:ln w="12700">
            <a:solidFill>
              <a:srgbClr val="ED7D31"/>
            </a:solidFill>
            <a:prstDash val="solid"/>
          </a:ln>
        </p:spPr>
      </p:sp>
      <p:sp>
        <p:nvSpPr>
          <p:cNvPr id="20" name="Text 18"/>
          <p:cNvSpPr/>
          <p:nvPr/>
        </p:nvSpPr>
        <p:spPr>
          <a:xfrm>
            <a:off x="4663440" y="3931920"/>
            <a:ext cx="7132320" cy="347472"/>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Policy Makers &amp; Health Boards</a:t>
            </a:r>
            <a:endParaRPr lang="en-US" sz="1300" dirty="0"/>
          </a:p>
        </p:txBody>
      </p:sp>
      <p:sp>
        <p:nvSpPr>
          <p:cNvPr id="21" name="Text 19"/>
          <p:cNvSpPr/>
          <p:nvPr/>
        </p:nvSpPr>
        <p:spPr>
          <a:xfrm>
            <a:off x="4663440" y="4261104"/>
            <a:ext cx="7132320" cy="310896"/>
          </a:xfrm>
          <a:prstGeom prst="rect">
            <a:avLst/>
          </a:prstGeom>
          <a:noFill/>
          <a:ln/>
        </p:spPr>
        <p:txBody>
          <a:bodyPr wrap="square" rtlCol="0" anchor="ctr"/>
          <a:lstStyle/>
          <a:p>
            <a:pPr marL="0" indent="0">
              <a:buNone/>
            </a:pPr>
            <a:r>
              <a:rPr lang="en-US" sz="1150" dirty="0">
                <a:solidFill>
                  <a:srgbClr val="000000"/>
                </a:solidFill>
                <a:latin typeface="Calibri" pitchFamily="34" charset="0"/>
                <a:ea typeface="Calibri" pitchFamily="34" charset="-122"/>
                <a:cs typeface="Calibri" pitchFamily="34" charset="-120"/>
              </a:rPr>
              <a:t>For strategic planning, resource allocation, and community health reports.</a:t>
            </a:r>
            <a:endParaRPr lang="en-US" sz="1150" dirty="0"/>
          </a:p>
        </p:txBody>
      </p:sp>
      <p:sp>
        <p:nvSpPr>
          <p:cNvPr id="22" name="Shape 20"/>
          <p:cNvSpPr/>
          <p:nvPr/>
        </p:nvSpPr>
        <p:spPr>
          <a:xfrm>
            <a:off x="4434840" y="4892040"/>
            <a:ext cx="109728" cy="109728"/>
          </a:xfrm>
          <a:prstGeom prst="ellipse">
            <a:avLst/>
          </a:prstGeom>
          <a:solidFill>
            <a:srgbClr val="ED7D31"/>
          </a:solidFill>
          <a:ln w="12700">
            <a:solidFill>
              <a:srgbClr val="ED7D31"/>
            </a:solidFill>
            <a:prstDash val="solid"/>
          </a:ln>
        </p:spPr>
      </p:sp>
      <p:sp>
        <p:nvSpPr>
          <p:cNvPr id="23" name="Text 21"/>
          <p:cNvSpPr/>
          <p:nvPr/>
        </p:nvSpPr>
        <p:spPr>
          <a:xfrm>
            <a:off x="4663440" y="4736592"/>
            <a:ext cx="7132320" cy="347472"/>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Data Science / Analytics Learners</a:t>
            </a:r>
            <a:endParaRPr lang="en-US" sz="1300" dirty="0"/>
          </a:p>
        </p:txBody>
      </p:sp>
      <p:sp>
        <p:nvSpPr>
          <p:cNvPr id="24" name="Text 22"/>
          <p:cNvSpPr/>
          <p:nvPr/>
        </p:nvSpPr>
        <p:spPr>
          <a:xfrm>
            <a:off x="4663440" y="5065776"/>
            <a:ext cx="7132320" cy="310896"/>
          </a:xfrm>
          <a:prstGeom prst="rect">
            <a:avLst/>
          </a:prstGeom>
          <a:noFill/>
          <a:ln/>
        </p:spPr>
        <p:txBody>
          <a:bodyPr wrap="square" rtlCol="0" anchor="ctr"/>
          <a:lstStyle/>
          <a:p>
            <a:pPr marL="0" indent="0">
              <a:buNone/>
            </a:pPr>
            <a:r>
              <a:rPr lang="en-US" sz="1150" dirty="0">
                <a:solidFill>
                  <a:srgbClr val="000000"/>
                </a:solidFill>
                <a:latin typeface="Calibri" pitchFamily="34" charset="0"/>
                <a:ea typeface="Calibri" pitchFamily="34" charset="-122"/>
                <a:cs typeface="Calibri" pitchFamily="34" charset="-120"/>
              </a:rPr>
              <a:t>As a case-study in healthcare analytics dashboards.</a:t>
            </a:r>
            <a:endParaRPr lang="en-US" sz="1150" dirty="0"/>
          </a:p>
        </p:txBody>
      </p:sp>
      <p:sp>
        <p:nvSpPr>
          <p:cNvPr id="25" name="Shape 23"/>
          <p:cNvSpPr/>
          <p:nvPr/>
        </p:nvSpPr>
        <p:spPr>
          <a:xfrm>
            <a:off x="4434840" y="5696712"/>
            <a:ext cx="109728" cy="109728"/>
          </a:xfrm>
          <a:prstGeom prst="ellipse">
            <a:avLst/>
          </a:prstGeom>
          <a:solidFill>
            <a:srgbClr val="ED7D31"/>
          </a:solidFill>
          <a:ln w="12700">
            <a:solidFill>
              <a:srgbClr val="ED7D31"/>
            </a:solidFill>
            <a:prstDash val="solid"/>
          </a:ln>
        </p:spPr>
      </p:sp>
      <p:sp>
        <p:nvSpPr>
          <p:cNvPr id="26" name="Text 24"/>
          <p:cNvSpPr/>
          <p:nvPr/>
        </p:nvSpPr>
        <p:spPr>
          <a:xfrm>
            <a:off x="4663440" y="5541264"/>
            <a:ext cx="7132320" cy="347472"/>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Insurance &amp; Finance Departments</a:t>
            </a:r>
            <a:endParaRPr lang="en-US" sz="1300" dirty="0"/>
          </a:p>
        </p:txBody>
      </p:sp>
      <p:sp>
        <p:nvSpPr>
          <p:cNvPr id="27" name="Text 25"/>
          <p:cNvSpPr/>
          <p:nvPr/>
        </p:nvSpPr>
        <p:spPr>
          <a:xfrm>
            <a:off x="4663440" y="5870448"/>
            <a:ext cx="7132320" cy="310896"/>
          </a:xfrm>
          <a:prstGeom prst="rect">
            <a:avLst/>
          </a:prstGeom>
          <a:noFill/>
          <a:ln/>
        </p:spPr>
        <p:txBody>
          <a:bodyPr wrap="square" rtlCol="0" anchor="ctr"/>
          <a:lstStyle/>
          <a:p>
            <a:pPr marL="0" indent="0">
              <a:buNone/>
            </a:pPr>
            <a:r>
              <a:rPr lang="en-US" sz="1150" dirty="0">
                <a:solidFill>
                  <a:srgbClr val="000000"/>
                </a:solidFill>
                <a:latin typeface="Calibri" pitchFamily="34" charset="0"/>
                <a:ea typeface="Calibri" pitchFamily="34" charset="-122"/>
                <a:cs typeface="Calibri" pitchFamily="34" charset="-120"/>
              </a:rPr>
              <a:t>To correlate admission rates with billing and coverage patterns.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7CBAC"/>
          </a:solidFill>
          <a:ln w="12700">
            <a:solidFill>
              <a:srgbClr val="F7CBAC"/>
            </a:solidFill>
            <a:prstDash val="solid"/>
          </a:ln>
        </p:spPr>
      </p:sp>
      <p:sp>
        <p:nvSpPr>
          <p:cNvPr id="3" name="Shape 1"/>
          <p:cNvSpPr/>
          <p:nvPr/>
        </p:nvSpPr>
        <p:spPr>
          <a:xfrm>
            <a:off x="0" y="0"/>
            <a:ext cx="4114800" cy="2286000"/>
          </a:xfrm>
          <a:prstGeom prst="rect">
            <a:avLst/>
          </a:prstGeom>
          <a:solidFill>
            <a:srgbClr val="F7CBAC">
              <a:alpha val="80000"/>
            </a:srgbClr>
          </a:solidFill>
          <a:ln w="12700">
            <a:solidFill>
              <a:srgbClr val="F7CBAC">
                <a:alpha val="80000"/>
              </a:srgbClr>
            </a:solidFill>
            <a:prstDash val="solid"/>
          </a:ln>
        </p:spPr>
      </p:sp>
      <p:sp>
        <p:nvSpPr>
          <p:cNvPr id="4" name="Shape 2"/>
          <p:cNvSpPr/>
          <p:nvPr/>
        </p:nvSpPr>
        <p:spPr>
          <a:xfrm>
            <a:off x="4114800" y="0"/>
            <a:ext cx="8046720" cy="6858000"/>
          </a:xfrm>
          <a:prstGeom prst="rect">
            <a:avLst/>
          </a:prstGeom>
          <a:solidFill>
            <a:srgbClr val="FFFFFF"/>
          </a:solidFill>
          <a:ln w="12700">
            <a:solidFill>
              <a:srgbClr val="FFFFFF"/>
            </a:solidFill>
            <a:prstDash val="solid"/>
          </a:ln>
        </p:spPr>
      </p:sp>
      <p:sp>
        <p:nvSpPr>
          <p:cNvPr id="5" name="Text 3"/>
          <p:cNvSpPr/>
          <p:nvPr/>
        </p:nvSpPr>
        <p:spPr>
          <a:xfrm>
            <a:off x="274320" y="283464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Data</a:t>
            </a:r>
            <a:endParaRPr lang="en-US" sz="2800" dirty="0"/>
          </a:p>
        </p:txBody>
      </p:sp>
      <p:sp>
        <p:nvSpPr>
          <p:cNvPr id="6" name="Text 4"/>
          <p:cNvSpPr/>
          <p:nvPr/>
        </p:nvSpPr>
        <p:spPr>
          <a:xfrm>
            <a:off x="274320" y="342900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Overview</a:t>
            </a:r>
            <a:endParaRPr lang="en-US" sz="2800" dirty="0"/>
          </a:p>
        </p:txBody>
      </p:sp>
      <p:sp>
        <p:nvSpPr>
          <p:cNvPr id="7" name="Text 5"/>
          <p:cNvSpPr/>
          <p:nvPr/>
        </p:nvSpPr>
        <p:spPr>
          <a:xfrm>
            <a:off x="4343400" y="274320"/>
            <a:ext cx="7498080" cy="365760"/>
          </a:xfrm>
          <a:prstGeom prst="rect">
            <a:avLst/>
          </a:prstGeom>
          <a:noFill/>
          <a:ln/>
        </p:spPr>
        <p:txBody>
          <a:bodyPr wrap="square" rtlCol="0" anchor="ctr"/>
          <a:lstStyle/>
          <a:p>
            <a:pPr marL="0" indent="0">
              <a:buNone/>
            </a:pPr>
            <a:r>
              <a:rPr lang="en-US" sz="1500" b="1" dirty="0">
                <a:solidFill>
                  <a:srgbClr val="000000"/>
                </a:solidFill>
                <a:latin typeface="Calibri" pitchFamily="34" charset="0"/>
                <a:ea typeface="Calibri" pitchFamily="34" charset="-122"/>
                <a:cs typeface="Calibri" pitchFamily="34" charset="-120"/>
              </a:rPr>
              <a:t>Data Source</a:t>
            </a:r>
            <a:endParaRPr lang="en-US" sz="1500" dirty="0"/>
          </a:p>
        </p:txBody>
      </p:sp>
      <p:sp>
        <p:nvSpPr>
          <p:cNvPr id="8" name="Text 6"/>
          <p:cNvSpPr/>
          <p:nvPr/>
        </p:nvSpPr>
        <p:spPr>
          <a:xfrm>
            <a:off x="4343400" y="621792"/>
            <a:ext cx="7498080" cy="320040"/>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 Hospital Emergency Room Patient Records (Kaggle)</a:t>
            </a:r>
            <a:endParaRPr lang="en-US" sz="1200" dirty="0"/>
          </a:p>
        </p:txBody>
      </p:sp>
      <p:sp>
        <p:nvSpPr>
          <p:cNvPr id="9" name="Text 7"/>
          <p:cNvSpPr/>
          <p:nvPr/>
        </p:nvSpPr>
        <p:spPr>
          <a:xfrm>
            <a:off x="4343400" y="1051560"/>
            <a:ext cx="7498080" cy="365760"/>
          </a:xfrm>
          <a:prstGeom prst="rect">
            <a:avLst/>
          </a:prstGeom>
          <a:noFill/>
          <a:ln/>
        </p:spPr>
        <p:txBody>
          <a:bodyPr wrap="square" rtlCol="0" anchor="ctr"/>
          <a:lstStyle/>
          <a:p>
            <a:pPr marL="0" indent="0">
              <a:buNone/>
            </a:pPr>
            <a:r>
              <a:rPr lang="en-US" sz="1500" b="1" dirty="0">
                <a:solidFill>
                  <a:srgbClr val="000000"/>
                </a:solidFill>
                <a:latin typeface="Calibri" pitchFamily="34" charset="0"/>
                <a:ea typeface="Calibri" pitchFamily="34" charset="-122"/>
                <a:cs typeface="Calibri" pitchFamily="34" charset="-120"/>
              </a:rPr>
              <a:t>Dataset Size</a:t>
            </a:r>
            <a:endParaRPr lang="en-US" sz="1500" dirty="0"/>
          </a:p>
        </p:txBody>
      </p:sp>
      <p:sp>
        <p:nvSpPr>
          <p:cNvPr id="10" name="Text 8"/>
          <p:cNvSpPr/>
          <p:nvPr/>
        </p:nvSpPr>
        <p:spPr>
          <a:xfrm>
            <a:off x="4343400" y="1371600"/>
            <a:ext cx="7498080" cy="320040"/>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 Rows: 9,216     • Columns: 11     • Years Covered: 2023 &amp; 2024</a:t>
            </a:r>
            <a:endParaRPr lang="en-US" sz="1200" dirty="0"/>
          </a:p>
        </p:txBody>
      </p:sp>
      <p:sp>
        <p:nvSpPr>
          <p:cNvPr id="11" name="Text 9"/>
          <p:cNvSpPr/>
          <p:nvPr/>
        </p:nvSpPr>
        <p:spPr>
          <a:xfrm>
            <a:off x="4343400" y="1673352"/>
            <a:ext cx="7498080" cy="320040"/>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 2023 Records: 4,338     • 2024 Records: 4,878</a:t>
            </a:r>
            <a:endParaRPr lang="en-US" sz="1200" dirty="0"/>
          </a:p>
        </p:txBody>
      </p:sp>
      <p:sp>
        <p:nvSpPr>
          <p:cNvPr id="12" name="Text 10"/>
          <p:cNvSpPr/>
          <p:nvPr/>
        </p:nvSpPr>
        <p:spPr>
          <a:xfrm>
            <a:off x="4343400" y="2103120"/>
            <a:ext cx="7498080" cy="365760"/>
          </a:xfrm>
          <a:prstGeom prst="rect">
            <a:avLst/>
          </a:prstGeom>
          <a:noFill/>
          <a:ln/>
        </p:spPr>
        <p:txBody>
          <a:bodyPr wrap="square" rtlCol="0" anchor="ctr"/>
          <a:lstStyle/>
          <a:p>
            <a:pPr marL="0" indent="0">
              <a:buNone/>
            </a:pPr>
            <a:r>
              <a:rPr lang="en-US" sz="1500" b="1" dirty="0">
                <a:solidFill>
                  <a:srgbClr val="000000"/>
                </a:solidFill>
                <a:latin typeface="Calibri" pitchFamily="34" charset="0"/>
                <a:ea typeface="Calibri" pitchFamily="34" charset="-122"/>
                <a:cs typeface="Calibri" pitchFamily="34" charset="-120"/>
              </a:rPr>
              <a:t>Key Fields</a:t>
            </a:r>
            <a:endParaRPr lang="en-US" sz="1500" dirty="0"/>
          </a:p>
        </p:txBody>
      </p:sp>
      <p:sp>
        <p:nvSpPr>
          <p:cNvPr id="13" name="Shape 11"/>
          <p:cNvSpPr/>
          <p:nvPr/>
        </p:nvSpPr>
        <p:spPr>
          <a:xfrm>
            <a:off x="4434840" y="2660904"/>
            <a:ext cx="91440" cy="91440"/>
          </a:xfrm>
          <a:prstGeom prst="ellipse">
            <a:avLst/>
          </a:prstGeom>
          <a:solidFill>
            <a:srgbClr val="ED7D31"/>
          </a:solidFill>
          <a:ln w="12700">
            <a:solidFill>
              <a:srgbClr val="ED7D31"/>
            </a:solidFill>
            <a:prstDash val="solid"/>
          </a:ln>
        </p:spPr>
      </p:sp>
      <p:sp>
        <p:nvSpPr>
          <p:cNvPr id="14" name="Text 12"/>
          <p:cNvSpPr/>
          <p:nvPr/>
        </p:nvSpPr>
        <p:spPr>
          <a:xfrm>
            <a:off x="4617720" y="2523744"/>
            <a:ext cx="3200400" cy="34747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Patient ID</a:t>
            </a:r>
            <a:endParaRPr lang="en-US" sz="1200" dirty="0"/>
          </a:p>
        </p:txBody>
      </p:sp>
      <p:sp>
        <p:nvSpPr>
          <p:cNvPr id="15" name="Shape 13"/>
          <p:cNvSpPr/>
          <p:nvPr/>
        </p:nvSpPr>
        <p:spPr>
          <a:xfrm>
            <a:off x="4434840" y="3044952"/>
            <a:ext cx="91440" cy="91440"/>
          </a:xfrm>
          <a:prstGeom prst="ellipse">
            <a:avLst/>
          </a:prstGeom>
          <a:solidFill>
            <a:srgbClr val="ED7D31"/>
          </a:solidFill>
          <a:ln w="12700">
            <a:solidFill>
              <a:srgbClr val="ED7D31"/>
            </a:solidFill>
            <a:prstDash val="solid"/>
          </a:ln>
        </p:spPr>
      </p:sp>
      <p:sp>
        <p:nvSpPr>
          <p:cNvPr id="16" name="Text 14"/>
          <p:cNvSpPr/>
          <p:nvPr/>
        </p:nvSpPr>
        <p:spPr>
          <a:xfrm>
            <a:off x="4617720" y="2907792"/>
            <a:ext cx="3200400" cy="34747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Patient Admission Date</a:t>
            </a:r>
            <a:endParaRPr lang="en-US" sz="1200" dirty="0"/>
          </a:p>
        </p:txBody>
      </p:sp>
      <p:sp>
        <p:nvSpPr>
          <p:cNvPr id="17" name="Shape 15"/>
          <p:cNvSpPr/>
          <p:nvPr/>
        </p:nvSpPr>
        <p:spPr>
          <a:xfrm>
            <a:off x="4434840" y="3429000"/>
            <a:ext cx="91440" cy="91440"/>
          </a:xfrm>
          <a:prstGeom prst="ellipse">
            <a:avLst/>
          </a:prstGeom>
          <a:solidFill>
            <a:srgbClr val="ED7D31"/>
          </a:solidFill>
          <a:ln w="12700">
            <a:solidFill>
              <a:srgbClr val="ED7D31"/>
            </a:solidFill>
            <a:prstDash val="solid"/>
          </a:ln>
        </p:spPr>
      </p:sp>
      <p:sp>
        <p:nvSpPr>
          <p:cNvPr id="18" name="Text 16"/>
          <p:cNvSpPr/>
          <p:nvPr/>
        </p:nvSpPr>
        <p:spPr>
          <a:xfrm>
            <a:off x="4617720" y="3291840"/>
            <a:ext cx="3200400" cy="34747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Patient Gender</a:t>
            </a:r>
            <a:endParaRPr lang="en-US" sz="1200" dirty="0"/>
          </a:p>
        </p:txBody>
      </p:sp>
      <p:sp>
        <p:nvSpPr>
          <p:cNvPr id="19" name="Shape 17"/>
          <p:cNvSpPr/>
          <p:nvPr/>
        </p:nvSpPr>
        <p:spPr>
          <a:xfrm>
            <a:off x="4434840" y="3813048"/>
            <a:ext cx="91440" cy="91440"/>
          </a:xfrm>
          <a:prstGeom prst="ellipse">
            <a:avLst/>
          </a:prstGeom>
          <a:solidFill>
            <a:srgbClr val="ED7D31"/>
          </a:solidFill>
          <a:ln w="12700">
            <a:solidFill>
              <a:srgbClr val="ED7D31"/>
            </a:solidFill>
            <a:prstDash val="solid"/>
          </a:ln>
        </p:spPr>
      </p:sp>
      <p:sp>
        <p:nvSpPr>
          <p:cNvPr id="20" name="Text 18"/>
          <p:cNvSpPr/>
          <p:nvPr/>
        </p:nvSpPr>
        <p:spPr>
          <a:xfrm>
            <a:off x="4617720" y="3675888"/>
            <a:ext cx="3200400" cy="34747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Patient Age</a:t>
            </a:r>
            <a:endParaRPr lang="en-US" sz="1200" dirty="0"/>
          </a:p>
        </p:txBody>
      </p:sp>
      <p:sp>
        <p:nvSpPr>
          <p:cNvPr id="21" name="Shape 19"/>
          <p:cNvSpPr/>
          <p:nvPr/>
        </p:nvSpPr>
        <p:spPr>
          <a:xfrm>
            <a:off x="4434840" y="4197096"/>
            <a:ext cx="91440" cy="91440"/>
          </a:xfrm>
          <a:prstGeom prst="ellipse">
            <a:avLst/>
          </a:prstGeom>
          <a:solidFill>
            <a:srgbClr val="ED7D31"/>
          </a:solidFill>
          <a:ln w="12700">
            <a:solidFill>
              <a:srgbClr val="ED7D31"/>
            </a:solidFill>
            <a:prstDash val="solid"/>
          </a:ln>
        </p:spPr>
      </p:sp>
      <p:sp>
        <p:nvSpPr>
          <p:cNvPr id="22" name="Text 20"/>
          <p:cNvSpPr/>
          <p:nvPr/>
        </p:nvSpPr>
        <p:spPr>
          <a:xfrm>
            <a:off x="4617720" y="4059936"/>
            <a:ext cx="3200400" cy="34747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Patient Race</a:t>
            </a:r>
            <a:endParaRPr lang="en-US" sz="1200" dirty="0"/>
          </a:p>
        </p:txBody>
      </p:sp>
      <p:sp>
        <p:nvSpPr>
          <p:cNvPr id="23" name="Shape 21"/>
          <p:cNvSpPr/>
          <p:nvPr/>
        </p:nvSpPr>
        <p:spPr>
          <a:xfrm>
            <a:off x="8092440" y="2660904"/>
            <a:ext cx="91440" cy="91440"/>
          </a:xfrm>
          <a:prstGeom prst="ellipse">
            <a:avLst/>
          </a:prstGeom>
          <a:solidFill>
            <a:srgbClr val="ED7D31"/>
          </a:solidFill>
          <a:ln w="12700">
            <a:solidFill>
              <a:srgbClr val="ED7D31"/>
            </a:solidFill>
            <a:prstDash val="solid"/>
          </a:ln>
        </p:spPr>
      </p:sp>
      <p:sp>
        <p:nvSpPr>
          <p:cNvPr id="24" name="Text 22"/>
          <p:cNvSpPr/>
          <p:nvPr/>
        </p:nvSpPr>
        <p:spPr>
          <a:xfrm>
            <a:off x="8275320" y="2523744"/>
            <a:ext cx="3566160" cy="34747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Department Referral</a:t>
            </a:r>
            <a:endParaRPr lang="en-US" sz="1200" dirty="0"/>
          </a:p>
        </p:txBody>
      </p:sp>
      <p:sp>
        <p:nvSpPr>
          <p:cNvPr id="25" name="Shape 23"/>
          <p:cNvSpPr/>
          <p:nvPr/>
        </p:nvSpPr>
        <p:spPr>
          <a:xfrm>
            <a:off x="8092440" y="3044952"/>
            <a:ext cx="91440" cy="91440"/>
          </a:xfrm>
          <a:prstGeom prst="ellipse">
            <a:avLst/>
          </a:prstGeom>
          <a:solidFill>
            <a:srgbClr val="ED7D31"/>
          </a:solidFill>
          <a:ln w="12700">
            <a:solidFill>
              <a:srgbClr val="ED7D31"/>
            </a:solidFill>
            <a:prstDash val="solid"/>
          </a:ln>
        </p:spPr>
      </p:sp>
      <p:sp>
        <p:nvSpPr>
          <p:cNvPr id="26" name="Text 24"/>
          <p:cNvSpPr/>
          <p:nvPr/>
        </p:nvSpPr>
        <p:spPr>
          <a:xfrm>
            <a:off x="8275320" y="2907792"/>
            <a:ext cx="3566160" cy="34747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Patient Admission Flag</a:t>
            </a:r>
            <a:endParaRPr lang="en-US" sz="1200" dirty="0"/>
          </a:p>
        </p:txBody>
      </p:sp>
      <p:sp>
        <p:nvSpPr>
          <p:cNvPr id="27" name="Shape 25"/>
          <p:cNvSpPr/>
          <p:nvPr/>
        </p:nvSpPr>
        <p:spPr>
          <a:xfrm>
            <a:off x="8092440" y="3429000"/>
            <a:ext cx="91440" cy="91440"/>
          </a:xfrm>
          <a:prstGeom prst="ellipse">
            <a:avLst/>
          </a:prstGeom>
          <a:solidFill>
            <a:srgbClr val="ED7D31"/>
          </a:solidFill>
          <a:ln w="12700">
            <a:solidFill>
              <a:srgbClr val="ED7D31"/>
            </a:solidFill>
            <a:prstDash val="solid"/>
          </a:ln>
        </p:spPr>
      </p:sp>
      <p:sp>
        <p:nvSpPr>
          <p:cNvPr id="28" name="Text 26"/>
          <p:cNvSpPr/>
          <p:nvPr/>
        </p:nvSpPr>
        <p:spPr>
          <a:xfrm>
            <a:off x="8275320" y="3291840"/>
            <a:ext cx="3566160" cy="34747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Patient Satisfaction Score</a:t>
            </a:r>
            <a:endParaRPr lang="en-US" sz="1200" dirty="0"/>
          </a:p>
        </p:txBody>
      </p:sp>
      <p:sp>
        <p:nvSpPr>
          <p:cNvPr id="29" name="Shape 27"/>
          <p:cNvSpPr/>
          <p:nvPr/>
        </p:nvSpPr>
        <p:spPr>
          <a:xfrm>
            <a:off x="8092440" y="3813048"/>
            <a:ext cx="91440" cy="91440"/>
          </a:xfrm>
          <a:prstGeom prst="ellipse">
            <a:avLst/>
          </a:prstGeom>
          <a:solidFill>
            <a:srgbClr val="ED7D31"/>
          </a:solidFill>
          <a:ln w="12700">
            <a:solidFill>
              <a:srgbClr val="ED7D31"/>
            </a:solidFill>
            <a:prstDash val="solid"/>
          </a:ln>
        </p:spPr>
      </p:sp>
      <p:sp>
        <p:nvSpPr>
          <p:cNvPr id="30" name="Text 28"/>
          <p:cNvSpPr/>
          <p:nvPr/>
        </p:nvSpPr>
        <p:spPr>
          <a:xfrm>
            <a:off x="8275320" y="3675888"/>
            <a:ext cx="3566160" cy="34747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Patient Wait Time (Min)</a:t>
            </a:r>
            <a:endParaRPr lang="en-US" sz="1200" dirty="0"/>
          </a:p>
        </p:txBody>
      </p:sp>
      <p:sp>
        <p:nvSpPr>
          <p:cNvPr id="31" name="Shape 29"/>
          <p:cNvSpPr/>
          <p:nvPr/>
        </p:nvSpPr>
        <p:spPr>
          <a:xfrm>
            <a:off x="4343400" y="5486400"/>
            <a:ext cx="1783080" cy="1097280"/>
          </a:xfrm>
          <a:prstGeom prst="rect">
            <a:avLst/>
          </a:prstGeom>
          <a:solidFill>
            <a:srgbClr val="FFFFFF"/>
          </a:solidFill>
          <a:ln w="12700">
            <a:solidFill>
              <a:srgbClr val="FFFFFF"/>
            </a:solidFill>
            <a:prstDash val="solid"/>
          </a:ln>
        </p:spPr>
      </p:sp>
      <p:sp>
        <p:nvSpPr>
          <p:cNvPr id="32" name="Text 30"/>
          <p:cNvSpPr/>
          <p:nvPr/>
        </p:nvSpPr>
        <p:spPr>
          <a:xfrm>
            <a:off x="4343400" y="5577840"/>
            <a:ext cx="1783080" cy="502920"/>
          </a:xfrm>
          <a:prstGeom prst="rect">
            <a:avLst/>
          </a:prstGeom>
          <a:noFill/>
          <a:ln/>
        </p:spPr>
        <p:txBody>
          <a:bodyPr wrap="square" rtlCol="0" anchor="ctr"/>
          <a:lstStyle/>
          <a:p>
            <a:pPr marL="0" indent="0" algn="ctr">
              <a:buNone/>
            </a:pPr>
            <a:r>
              <a:rPr lang="en-US" sz="2200" b="1" dirty="0">
                <a:solidFill>
                  <a:srgbClr val="000000"/>
                </a:solidFill>
                <a:latin typeface="Calibri" pitchFamily="34" charset="0"/>
                <a:ea typeface="Calibri" pitchFamily="34" charset="-122"/>
                <a:cs typeface="Calibri" pitchFamily="34" charset="-120"/>
              </a:rPr>
              <a:t>9,216</a:t>
            </a:r>
            <a:endParaRPr lang="en-US" sz="2200" dirty="0"/>
          </a:p>
        </p:txBody>
      </p:sp>
      <p:sp>
        <p:nvSpPr>
          <p:cNvPr id="33" name="Text 31"/>
          <p:cNvSpPr/>
          <p:nvPr/>
        </p:nvSpPr>
        <p:spPr>
          <a:xfrm>
            <a:off x="4343400" y="6053328"/>
            <a:ext cx="1783080" cy="347472"/>
          </a:xfrm>
          <a:prstGeom prst="rect">
            <a:avLst/>
          </a:prstGeom>
          <a:noFill/>
          <a:ln/>
        </p:spPr>
        <p:txBody>
          <a:bodyPr wrap="square" rtlCol="0" anchor="ctr"/>
          <a:lstStyle/>
          <a:p>
            <a:pPr marL="0" indent="0" algn="ctr">
              <a:buNone/>
            </a:pPr>
            <a:r>
              <a:rPr lang="en-US" sz="1100" dirty="0">
                <a:solidFill>
                  <a:srgbClr val="000000"/>
                </a:solidFill>
                <a:latin typeface="Calibri" pitchFamily="34" charset="0"/>
                <a:ea typeface="Calibri" pitchFamily="34" charset="-122"/>
                <a:cs typeface="Calibri" pitchFamily="34" charset="-120"/>
              </a:rPr>
              <a:t>Total Records</a:t>
            </a:r>
            <a:endParaRPr lang="en-US" sz="1100" dirty="0"/>
          </a:p>
        </p:txBody>
      </p:sp>
      <p:sp>
        <p:nvSpPr>
          <p:cNvPr id="34" name="Shape 32"/>
          <p:cNvSpPr/>
          <p:nvPr/>
        </p:nvSpPr>
        <p:spPr>
          <a:xfrm>
            <a:off x="6263640" y="5486400"/>
            <a:ext cx="1783080" cy="1097280"/>
          </a:xfrm>
          <a:prstGeom prst="rect">
            <a:avLst/>
          </a:prstGeom>
          <a:solidFill>
            <a:srgbClr val="FFFFFF"/>
          </a:solidFill>
          <a:ln w="12700">
            <a:solidFill>
              <a:srgbClr val="FFFFFF"/>
            </a:solidFill>
            <a:prstDash val="solid"/>
          </a:ln>
        </p:spPr>
      </p:sp>
      <p:sp>
        <p:nvSpPr>
          <p:cNvPr id="35" name="Text 33"/>
          <p:cNvSpPr/>
          <p:nvPr/>
        </p:nvSpPr>
        <p:spPr>
          <a:xfrm>
            <a:off x="6263640" y="5577840"/>
            <a:ext cx="1783080" cy="502920"/>
          </a:xfrm>
          <a:prstGeom prst="rect">
            <a:avLst/>
          </a:prstGeom>
          <a:noFill/>
          <a:ln/>
        </p:spPr>
        <p:txBody>
          <a:bodyPr wrap="square" rtlCol="0" anchor="ctr"/>
          <a:lstStyle/>
          <a:p>
            <a:pPr marL="0" indent="0" algn="ctr">
              <a:buNone/>
            </a:pPr>
            <a:r>
              <a:rPr lang="en-US" sz="2200" b="1" dirty="0">
                <a:solidFill>
                  <a:srgbClr val="000000"/>
                </a:solidFill>
                <a:latin typeface="Calibri" pitchFamily="34" charset="0"/>
                <a:ea typeface="Calibri" pitchFamily="34" charset="-122"/>
                <a:cs typeface="Calibri" pitchFamily="34" charset="-120"/>
              </a:rPr>
              <a:t>2 Years</a:t>
            </a:r>
            <a:endParaRPr lang="en-US" sz="2200" dirty="0"/>
          </a:p>
        </p:txBody>
      </p:sp>
      <p:sp>
        <p:nvSpPr>
          <p:cNvPr id="36" name="Text 34"/>
          <p:cNvSpPr/>
          <p:nvPr/>
        </p:nvSpPr>
        <p:spPr>
          <a:xfrm>
            <a:off x="6263640" y="6053328"/>
            <a:ext cx="1783080" cy="347472"/>
          </a:xfrm>
          <a:prstGeom prst="rect">
            <a:avLst/>
          </a:prstGeom>
          <a:noFill/>
          <a:ln/>
        </p:spPr>
        <p:txBody>
          <a:bodyPr wrap="square" rtlCol="0" anchor="ctr"/>
          <a:lstStyle/>
          <a:p>
            <a:pPr marL="0" indent="0" algn="ctr">
              <a:buNone/>
            </a:pPr>
            <a:r>
              <a:rPr lang="en-US" sz="1100" dirty="0">
                <a:solidFill>
                  <a:srgbClr val="000000"/>
                </a:solidFill>
                <a:latin typeface="Calibri" pitchFamily="34" charset="0"/>
                <a:ea typeface="Calibri" pitchFamily="34" charset="-122"/>
                <a:cs typeface="Calibri" pitchFamily="34" charset="-120"/>
              </a:rPr>
              <a:t>2023 &amp; 2024</a:t>
            </a:r>
            <a:endParaRPr lang="en-US" sz="1100" dirty="0"/>
          </a:p>
        </p:txBody>
      </p:sp>
      <p:sp>
        <p:nvSpPr>
          <p:cNvPr id="37" name="Shape 35"/>
          <p:cNvSpPr/>
          <p:nvPr/>
        </p:nvSpPr>
        <p:spPr>
          <a:xfrm>
            <a:off x="8183880" y="5486400"/>
            <a:ext cx="1783080" cy="1097280"/>
          </a:xfrm>
          <a:prstGeom prst="rect">
            <a:avLst/>
          </a:prstGeom>
          <a:solidFill>
            <a:srgbClr val="FFFFFF"/>
          </a:solidFill>
          <a:ln w="12700">
            <a:solidFill>
              <a:srgbClr val="FFFFFF"/>
            </a:solidFill>
            <a:prstDash val="solid"/>
          </a:ln>
        </p:spPr>
      </p:sp>
      <p:sp>
        <p:nvSpPr>
          <p:cNvPr id="38" name="Text 36"/>
          <p:cNvSpPr/>
          <p:nvPr/>
        </p:nvSpPr>
        <p:spPr>
          <a:xfrm>
            <a:off x="8183880" y="5577840"/>
            <a:ext cx="1783080" cy="502920"/>
          </a:xfrm>
          <a:prstGeom prst="rect">
            <a:avLst/>
          </a:prstGeom>
          <a:noFill/>
          <a:ln/>
        </p:spPr>
        <p:txBody>
          <a:bodyPr wrap="square" rtlCol="0" anchor="ctr"/>
          <a:lstStyle/>
          <a:p>
            <a:pPr marL="0" indent="0" algn="ctr">
              <a:buNone/>
            </a:pPr>
            <a:r>
              <a:rPr lang="en-US" sz="2200" b="1" dirty="0">
                <a:solidFill>
                  <a:srgbClr val="000000"/>
                </a:solidFill>
                <a:latin typeface="Calibri" pitchFamily="34" charset="0"/>
                <a:ea typeface="Calibri" pitchFamily="34" charset="-122"/>
                <a:cs typeface="Calibri" pitchFamily="34" charset="-120"/>
              </a:rPr>
              <a:t>11</a:t>
            </a:r>
            <a:endParaRPr lang="en-US" sz="2200" dirty="0"/>
          </a:p>
        </p:txBody>
      </p:sp>
      <p:sp>
        <p:nvSpPr>
          <p:cNvPr id="39" name="Text 37"/>
          <p:cNvSpPr/>
          <p:nvPr/>
        </p:nvSpPr>
        <p:spPr>
          <a:xfrm>
            <a:off x="8183880" y="6053328"/>
            <a:ext cx="1783080" cy="347472"/>
          </a:xfrm>
          <a:prstGeom prst="rect">
            <a:avLst/>
          </a:prstGeom>
          <a:noFill/>
          <a:ln/>
        </p:spPr>
        <p:txBody>
          <a:bodyPr wrap="square" rtlCol="0" anchor="ctr"/>
          <a:lstStyle/>
          <a:p>
            <a:pPr marL="0" indent="0" algn="ctr">
              <a:buNone/>
            </a:pPr>
            <a:r>
              <a:rPr lang="en-US" sz="1100" dirty="0">
                <a:solidFill>
                  <a:srgbClr val="000000"/>
                </a:solidFill>
                <a:latin typeface="Calibri" pitchFamily="34" charset="0"/>
                <a:ea typeface="Calibri" pitchFamily="34" charset="-122"/>
                <a:cs typeface="Calibri" pitchFamily="34" charset="-120"/>
              </a:rPr>
              <a:t>Data Columns</a:t>
            </a:r>
            <a:endParaRPr lang="en-US" sz="1100" dirty="0"/>
          </a:p>
        </p:txBody>
      </p:sp>
      <p:sp>
        <p:nvSpPr>
          <p:cNvPr id="40" name="Shape 38"/>
          <p:cNvSpPr/>
          <p:nvPr/>
        </p:nvSpPr>
        <p:spPr>
          <a:xfrm>
            <a:off x="10104120" y="5486400"/>
            <a:ext cx="1783080" cy="1097280"/>
          </a:xfrm>
          <a:prstGeom prst="rect">
            <a:avLst/>
          </a:prstGeom>
          <a:solidFill>
            <a:srgbClr val="FFFFFF"/>
          </a:solidFill>
          <a:ln w="12700">
            <a:solidFill>
              <a:srgbClr val="FFFFFF"/>
            </a:solidFill>
            <a:prstDash val="solid"/>
          </a:ln>
        </p:spPr>
      </p:sp>
      <p:sp>
        <p:nvSpPr>
          <p:cNvPr id="41" name="Text 39"/>
          <p:cNvSpPr/>
          <p:nvPr/>
        </p:nvSpPr>
        <p:spPr>
          <a:xfrm>
            <a:off x="10104120" y="5577840"/>
            <a:ext cx="1783080" cy="502920"/>
          </a:xfrm>
          <a:prstGeom prst="rect">
            <a:avLst/>
          </a:prstGeom>
          <a:noFill/>
          <a:ln/>
        </p:spPr>
        <p:txBody>
          <a:bodyPr wrap="square" rtlCol="0" anchor="ctr"/>
          <a:lstStyle/>
          <a:p>
            <a:pPr marL="0" indent="0" algn="ctr">
              <a:buNone/>
            </a:pPr>
            <a:r>
              <a:rPr lang="en-US" sz="2200" b="1" dirty="0">
                <a:solidFill>
                  <a:srgbClr val="000000"/>
                </a:solidFill>
                <a:latin typeface="Calibri" pitchFamily="34" charset="0"/>
                <a:ea typeface="Calibri" pitchFamily="34" charset="-122"/>
                <a:cs typeface="Calibri" pitchFamily="34" charset="-120"/>
              </a:rPr>
              <a:t>8</a:t>
            </a:r>
            <a:endParaRPr lang="en-US" sz="2200" dirty="0"/>
          </a:p>
        </p:txBody>
      </p:sp>
      <p:sp>
        <p:nvSpPr>
          <p:cNvPr id="42" name="Text 40"/>
          <p:cNvSpPr/>
          <p:nvPr/>
        </p:nvSpPr>
        <p:spPr>
          <a:xfrm>
            <a:off x="10104120" y="6053328"/>
            <a:ext cx="1783080" cy="347472"/>
          </a:xfrm>
          <a:prstGeom prst="rect">
            <a:avLst/>
          </a:prstGeom>
          <a:noFill/>
          <a:ln/>
        </p:spPr>
        <p:txBody>
          <a:bodyPr wrap="square" rtlCol="0" anchor="ctr"/>
          <a:lstStyle/>
          <a:p>
            <a:pPr marL="0" indent="0" algn="ctr">
              <a:buNone/>
            </a:pPr>
            <a:r>
              <a:rPr lang="en-US" sz="1100" dirty="0">
                <a:solidFill>
                  <a:srgbClr val="000000"/>
                </a:solidFill>
                <a:latin typeface="Calibri" pitchFamily="34" charset="0"/>
                <a:ea typeface="Calibri" pitchFamily="34" charset="-122"/>
                <a:cs typeface="Calibri" pitchFamily="34" charset="-120"/>
              </a:rPr>
              <a:t>Dept. Categories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7CBAC"/>
          </a:solidFill>
          <a:ln w="12700">
            <a:solidFill>
              <a:srgbClr val="F7CBAC"/>
            </a:solidFill>
            <a:prstDash val="solid"/>
          </a:ln>
        </p:spPr>
      </p:sp>
      <p:sp>
        <p:nvSpPr>
          <p:cNvPr id="3" name="Shape 1"/>
          <p:cNvSpPr/>
          <p:nvPr/>
        </p:nvSpPr>
        <p:spPr>
          <a:xfrm>
            <a:off x="0" y="0"/>
            <a:ext cx="4114800" cy="2286000"/>
          </a:xfrm>
          <a:prstGeom prst="rect">
            <a:avLst/>
          </a:prstGeom>
          <a:solidFill>
            <a:srgbClr val="F7CBAC">
              <a:alpha val="80000"/>
            </a:srgbClr>
          </a:solidFill>
          <a:ln w="12700">
            <a:solidFill>
              <a:srgbClr val="F7CBAC">
                <a:alpha val="80000"/>
              </a:srgbClr>
            </a:solidFill>
            <a:prstDash val="solid"/>
          </a:ln>
        </p:spPr>
      </p:sp>
      <p:sp>
        <p:nvSpPr>
          <p:cNvPr id="4" name="Shape 2"/>
          <p:cNvSpPr/>
          <p:nvPr/>
        </p:nvSpPr>
        <p:spPr>
          <a:xfrm>
            <a:off x="4114800" y="0"/>
            <a:ext cx="8046720" cy="6858000"/>
          </a:xfrm>
          <a:prstGeom prst="rect">
            <a:avLst/>
          </a:prstGeom>
          <a:solidFill>
            <a:srgbClr val="FFFFFF"/>
          </a:solidFill>
          <a:ln w="12700">
            <a:solidFill>
              <a:srgbClr val="FFFFFF"/>
            </a:solidFill>
            <a:prstDash val="solid"/>
          </a:ln>
        </p:spPr>
      </p:sp>
      <p:sp>
        <p:nvSpPr>
          <p:cNvPr id="5" name="Text 3"/>
          <p:cNvSpPr/>
          <p:nvPr/>
        </p:nvSpPr>
        <p:spPr>
          <a:xfrm>
            <a:off x="274320" y="283464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Dashboard</a:t>
            </a:r>
            <a:endParaRPr lang="en-US" sz="2800" dirty="0"/>
          </a:p>
        </p:txBody>
      </p:sp>
      <p:sp>
        <p:nvSpPr>
          <p:cNvPr id="6" name="Text 4"/>
          <p:cNvSpPr/>
          <p:nvPr/>
        </p:nvSpPr>
        <p:spPr>
          <a:xfrm>
            <a:off x="274320" y="342900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Design</a:t>
            </a:r>
            <a:endParaRPr lang="en-US" sz="2800" dirty="0"/>
          </a:p>
        </p:txBody>
      </p:sp>
      <p:sp>
        <p:nvSpPr>
          <p:cNvPr id="7" name="Text 5"/>
          <p:cNvSpPr/>
          <p:nvPr/>
        </p:nvSpPr>
        <p:spPr>
          <a:xfrm>
            <a:off x="4343400" y="274320"/>
            <a:ext cx="7498080" cy="411480"/>
          </a:xfrm>
          <a:prstGeom prst="rect">
            <a:avLst/>
          </a:prstGeom>
          <a:noFill/>
          <a:ln/>
        </p:spPr>
        <p:txBody>
          <a:bodyPr wrap="square" rtlCol="0" anchor="ctr"/>
          <a:lstStyle/>
          <a:p>
            <a:pPr marL="0" indent="0">
              <a:buNone/>
            </a:pPr>
            <a:r>
              <a:rPr lang="en-US" sz="1600" b="1" dirty="0">
                <a:solidFill>
                  <a:srgbClr val="F7CBAC"/>
                </a:solidFill>
                <a:latin typeface="Calibri" pitchFamily="34" charset="0"/>
                <a:ea typeface="Calibri" pitchFamily="34" charset="-122"/>
                <a:cs typeface="Calibri" pitchFamily="34" charset="-120"/>
              </a:rPr>
              <a:t>Dashboard Design</a:t>
            </a:r>
            <a:endParaRPr lang="en-US" sz="1600" dirty="0"/>
          </a:p>
        </p:txBody>
      </p:sp>
      <p:sp>
        <p:nvSpPr>
          <p:cNvPr id="8" name="Shape 6"/>
          <p:cNvSpPr/>
          <p:nvPr/>
        </p:nvSpPr>
        <p:spPr>
          <a:xfrm>
            <a:off x="4434840" y="932688"/>
            <a:ext cx="109728" cy="109728"/>
          </a:xfrm>
          <a:prstGeom prst="ellipse">
            <a:avLst/>
          </a:prstGeom>
          <a:solidFill>
            <a:srgbClr val="ED7D31"/>
          </a:solidFill>
          <a:ln w="12700">
            <a:solidFill>
              <a:srgbClr val="ED7D31"/>
            </a:solidFill>
            <a:prstDash val="solid"/>
          </a:ln>
        </p:spPr>
      </p:sp>
      <p:sp>
        <p:nvSpPr>
          <p:cNvPr id="9" name="Text 7"/>
          <p:cNvSpPr/>
          <p:nvPr/>
        </p:nvSpPr>
        <p:spPr>
          <a:xfrm>
            <a:off x="4663440" y="777240"/>
            <a:ext cx="7223760" cy="59436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KPI Cards: </a:t>
            </a:r>
            <a:r>
              <a:rPr lang="en-US" sz="1200" dirty="0">
                <a:solidFill>
                  <a:srgbClr val="000000"/>
                </a:solidFill>
                <a:latin typeface="Calibri" pitchFamily="34" charset="0"/>
                <a:ea typeface="Calibri" pitchFamily="34" charset="-122"/>
                <a:cs typeface="Calibri" pitchFamily="34" charset="-120"/>
              </a:rPr>
              <a:t>Total Patients, Avg Wait Time, Avg Satisfaction Score, Admission Rate, On-Time Rate</a:t>
            </a:r>
            <a:endParaRPr lang="en-US" sz="1200" dirty="0"/>
          </a:p>
        </p:txBody>
      </p:sp>
      <p:sp>
        <p:nvSpPr>
          <p:cNvPr id="10" name="Shape 8"/>
          <p:cNvSpPr/>
          <p:nvPr/>
        </p:nvSpPr>
        <p:spPr>
          <a:xfrm>
            <a:off x="4434840" y="1618488"/>
            <a:ext cx="109728" cy="109728"/>
          </a:xfrm>
          <a:prstGeom prst="ellipse">
            <a:avLst/>
          </a:prstGeom>
          <a:solidFill>
            <a:srgbClr val="ED7D31"/>
          </a:solidFill>
          <a:ln w="12700">
            <a:solidFill>
              <a:srgbClr val="ED7D31"/>
            </a:solidFill>
            <a:prstDash val="solid"/>
          </a:ln>
        </p:spPr>
      </p:sp>
      <p:sp>
        <p:nvSpPr>
          <p:cNvPr id="11" name="Text 9"/>
          <p:cNvSpPr/>
          <p:nvPr/>
        </p:nvSpPr>
        <p:spPr>
          <a:xfrm>
            <a:off x="4663440" y="1463040"/>
            <a:ext cx="7223760" cy="59436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Bar Chart: </a:t>
            </a:r>
            <a:r>
              <a:rPr lang="en-US" sz="1200" dirty="0">
                <a:solidFill>
                  <a:srgbClr val="000000"/>
                </a:solidFill>
                <a:latin typeface="Calibri" pitchFamily="34" charset="0"/>
                <a:ea typeface="Calibri" pitchFamily="34" charset="-122"/>
                <a:cs typeface="Calibri" pitchFamily="34" charset="-120"/>
              </a:rPr>
              <a:t>No. of Patients by Age Group, No. of Patients by Department Referral</a:t>
            </a:r>
            <a:endParaRPr lang="en-US" sz="1200" dirty="0"/>
          </a:p>
        </p:txBody>
      </p:sp>
      <p:sp>
        <p:nvSpPr>
          <p:cNvPr id="12" name="Shape 10"/>
          <p:cNvSpPr/>
          <p:nvPr/>
        </p:nvSpPr>
        <p:spPr>
          <a:xfrm>
            <a:off x="4434840" y="2304288"/>
            <a:ext cx="109728" cy="109728"/>
          </a:xfrm>
          <a:prstGeom prst="ellipse">
            <a:avLst/>
          </a:prstGeom>
          <a:solidFill>
            <a:srgbClr val="ED7D31"/>
          </a:solidFill>
          <a:ln w="12700">
            <a:solidFill>
              <a:srgbClr val="ED7D31"/>
            </a:solidFill>
            <a:prstDash val="solid"/>
          </a:ln>
        </p:spPr>
      </p:sp>
      <p:sp>
        <p:nvSpPr>
          <p:cNvPr id="13" name="Text 11"/>
          <p:cNvSpPr/>
          <p:nvPr/>
        </p:nvSpPr>
        <p:spPr>
          <a:xfrm>
            <a:off x="4663440" y="2148840"/>
            <a:ext cx="7223760" cy="59436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Donut Chart: </a:t>
            </a:r>
            <a:r>
              <a:rPr lang="en-US" sz="1200" dirty="0">
                <a:solidFill>
                  <a:srgbClr val="000000"/>
                </a:solidFill>
                <a:latin typeface="Calibri" pitchFamily="34" charset="0"/>
                <a:ea typeface="Calibri" pitchFamily="34" charset="-122"/>
                <a:cs typeface="Calibri" pitchFamily="34" charset="-120"/>
              </a:rPr>
              <a:t>Patient Attendance Status (On-Time vs Delayed), Gender Distribution</a:t>
            </a:r>
            <a:endParaRPr lang="en-US" sz="1200" dirty="0"/>
          </a:p>
        </p:txBody>
      </p:sp>
      <p:sp>
        <p:nvSpPr>
          <p:cNvPr id="14" name="Shape 12"/>
          <p:cNvSpPr/>
          <p:nvPr/>
        </p:nvSpPr>
        <p:spPr>
          <a:xfrm>
            <a:off x="4434840" y="2990088"/>
            <a:ext cx="109728" cy="109728"/>
          </a:xfrm>
          <a:prstGeom prst="ellipse">
            <a:avLst/>
          </a:prstGeom>
          <a:solidFill>
            <a:srgbClr val="ED7D31"/>
          </a:solidFill>
          <a:ln w="12700">
            <a:solidFill>
              <a:srgbClr val="ED7D31"/>
            </a:solidFill>
            <a:prstDash val="solid"/>
          </a:ln>
        </p:spPr>
      </p:sp>
      <p:sp>
        <p:nvSpPr>
          <p:cNvPr id="15" name="Text 13"/>
          <p:cNvSpPr/>
          <p:nvPr/>
        </p:nvSpPr>
        <p:spPr>
          <a:xfrm>
            <a:off x="4663440" y="2834640"/>
            <a:ext cx="7223760" cy="59436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Pie Chart: </a:t>
            </a:r>
            <a:r>
              <a:rPr lang="en-US" sz="1200" dirty="0">
                <a:solidFill>
                  <a:srgbClr val="000000"/>
                </a:solidFill>
                <a:latin typeface="Calibri" pitchFamily="34" charset="0"/>
                <a:ea typeface="Calibri" pitchFamily="34" charset="-122"/>
                <a:cs typeface="Calibri" pitchFamily="34" charset="-120"/>
              </a:rPr>
              <a:t>Admission Status (Admitted vs Not Admitted), Patient Race Distribution</a:t>
            </a:r>
            <a:endParaRPr lang="en-US" sz="1200" dirty="0"/>
          </a:p>
        </p:txBody>
      </p:sp>
      <p:sp>
        <p:nvSpPr>
          <p:cNvPr id="16" name="Shape 14"/>
          <p:cNvSpPr/>
          <p:nvPr/>
        </p:nvSpPr>
        <p:spPr>
          <a:xfrm>
            <a:off x="4434840" y="3675888"/>
            <a:ext cx="109728" cy="109728"/>
          </a:xfrm>
          <a:prstGeom prst="ellipse">
            <a:avLst/>
          </a:prstGeom>
          <a:solidFill>
            <a:srgbClr val="ED7D31"/>
          </a:solidFill>
          <a:ln w="12700">
            <a:solidFill>
              <a:srgbClr val="ED7D31"/>
            </a:solidFill>
            <a:prstDash val="solid"/>
          </a:ln>
        </p:spPr>
      </p:sp>
      <p:sp>
        <p:nvSpPr>
          <p:cNvPr id="17" name="Text 15"/>
          <p:cNvSpPr/>
          <p:nvPr/>
        </p:nvSpPr>
        <p:spPr>
          <a:xfrm>
            <a:off x="4663440" y="3520440"/>
            <a:ext cx="7223760" cy="59436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Line Chart: </a:t>
            </a:r>
            <a:r>
              <a:rPr lang="en-US" sz="1200" dirty="0">
                <a:solidFill>
                  <a:srgbClr val="000000"/>
                </a:solidFill>
                <a:latin typeface="Calibri" pitchFamily="34" charset="0"/>
                <a:ea typeface="Calibri" pitchFamily="34" charset="-122"/>
                <a:cs typeface="Calibri" pitchFamily="34" charset="-120"/>
              </a:rPr>
              <a:t>Monthly Patient Volume Trend — 2023 vs 2024 Comparison</a:t>
            </a:r>
            <a:endParaRPr lang="en-US" sz="1200" dirty="0"/>
          </a:p>
        </p:txBody>
      </p:sp>
      <p:sp>
        <p:nvSpPr>
          <p:cNvPr id="18" name="Shape 16"/>
          <p:cNvSpPr/>
          <p:nvPr/>
        </p:nvSpPr>
        <p:spPr>
          <a:xfrm>
            <a:off x="4434840" y="4361688"/>
            <a:ext cx="109728" cy="109728"/>
          </a:xfrm>
          <a:prstGeom prst="ellipse">
            <a:avLst/>
          </a:prstGeom>
          <a:solidFill>
            <a:srgbClr val="ED7D31"/>
          </a:solidFill>
          <a:ln w="12700">
            <a:solidFill>
              <a:srgbClr val="ED7D31"/>
            </a:solidFill>
            <a:prstDash val="solid"/>
          </a:ln>
        </p:spPr>
      </p:sp>
      <p:sp>
        <p:nvSpPr>
          <p:cNvPr id="19" name="Text 17"/>
          <p:cNvSpPr/>
          <p:nvPr/>
        </p:nvSpPr>
        <p:spPr>
          <a:xfrm>
            <a:off x="4663440" y="4206240"/>
            <a:ext cx="7223760" cy="59436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Column Chart: </a:t>
            </a:r>
            <a:r>
              <a:rPr lang="en-US" sz="1200" dirty="0">
                <a:solidFill>
                  <a:srgbClr val="000000"/>
                </a:solidFill>
                <a:latin typeface="Calibri" pitchFamily="34" charset="0"/>
                <a:ea typeface="Calibri" pitchFamily="34" charset="-122"/>
                <a:cs typeface="Calibri" pitchFamily="34" charset="-120"/>
              </a:rPr>
              <a:t>Patients by Age Group, Monthly Count by Year</a:t>
            </a:r>
            <a:endParaRPr lang="en-US" sz="1200" dirty="0"/>
          </a:p>
        </p:txBody>
      </p:sp>
      <p:sp>
        <p:nvSpPr>
          <p:cNvPr id="20" name="Shape 18"/>
          <p:cNvSpPr/>
          <p:nvPr/>
        </p:nvSpPr>
        <p:spPr>
          <a:xfrm>
            <a:off x="4434840" y="5047488"/>
            <a:ext cx="109728" cy="109728"/>
          </a:xfrm>
          <a:prstGeom prst="ellipse">
            <a:avLst/>
          </a:prstGeom>
          <a:solidFill>
            <a:srgbClr val="ED7D31"/>
          </a:solidFill>
          <a:ln w="12700">
            <a:solidFill>
              <a:srgbClr val="ED7D31"/>
            </a:solidFill>
            <a:prstDash val="solid"/>
          </a:ln>
        </p:spPr>
      </p:sp>
      <p:sp>
        <p:nvSpPr>
          <p:cNvPr id="21" name="Text 19"/>
          <p:cNvSpPr/>
          <p:nvPr/>
        </p:nvSpPr>
        <p:spPr>
          <a:xfrm>
            <a:off x="4663440" y="4892040"/>
            <a:ext cx="7223760" cy="59436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Stacked Bar: </a:t>
            </a:r>
            <a:r>
              <a:rPr lang="en-US" sz="1200" dirty="0">
                <a:solidFill>
                  <a:srgbClr val="000000"/>
                </a:solidFill>
                <a:latin typeface="Calibri" pitchFamily="34" charset="0"/>
                <a:ea typeface="Calibri" pitchFamily="34" charset="-122"/>
                <a:cs typeface="Calibri" pitchFamily="34" charset="-120"/>
              </a:rPr>
              <a:t>Department Referral Comparison — 2023 vs 2024</a:t>
            </a:r>
            <a:endParaRPr lang="en-US" sz="1200" dirty="0"/>
          </a:p>
        </p:txBody>
      </p:sp>
      <p:sp>
        <p:nvSpPr>
          <p:cNvPr id="22" name="Shape 20"/>
          <p:cNvSpPr/>
          <p:nvPr/>
        </p:nvSpPr>
        <p:spPr>
          <a:xfrm>
            <a:off x="4434840" y="5733288"/>
            <a:ext cx="109728" cy="109728"/>
          </a:xfrm>
          <a:prstGeom prst="ellipse">
            <a:avLst/>
          </a:prstGeom>
          <a:solidFill>
            <a:srgbClr val="ED7D31"/>
          </a:solidFill>
          <a:ln w="12700">
            <a:solidFill>
              <a:srgbClr val="ED7D31"/>
            </a:solidFill>
            <a:prstDash val="solid"/>
          </a:ln>
        </p:spPr>
      </p:sp>
      <p:sp>
        <p:nvSpPr>
          <p:cNvPr id="23" name="Text 21"/>
          <p:cNvSpPr/>
          <p:nvPr/>
        </p:nvSpPr>
        <p:spPr>
          <a:xfrm>
            <a:off x="4663440" y="5577840"/>
            <a:ext cx="7223760" cy="59436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Year Selector: </a:t>
            </a:r>
            <a:r>
              <a:rPr lang="en-US" sz="1200" dirty="0">
                <a:solidFill>
                  <a:srgbClr val="000000"/>
                </a:solidFill>
                <a:latin typeface="Calibri" pitchFamily="34" charset="0"/>
                <a:ea typeface="Calibri" pitchFamily="34" charset="-122"/>
                <a:cs typeface="Calibri" pitchFamily="34" charset="-120"/>
              </a:rPr>
              <a:t>Toggle between 2023 and 2024 data for all charts and KPIs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7CBAC"/>
          </a:solidFill>
          <a:ln w="12700">
            <a:solidFill>
              <a:srgbClr val="F7CBAC"/>
            </a:solidFill>
            <a:prstDash val="solid"/>
          </a:ln>
        </p:spPr>
      </p:sp>
      <p:sp>
        <p:nvSpPr>
          <p:cNvPr id="3" name="Shape 1"/>
          <p:cNvSpPr/>
          <p:nvPr/>
        </p:nvSpPr>
        <p:spPr>
          <a:xfrm>
            <a:off x="0" y="0"/>
            <a:ext cx="4114800" cy="2286000"/>
          </a:xfrm>
          <a:prstGeom prst="rect">
            <a:avLst/>
          </a:prstGeom>
          <a:solidFill>
            <a:srgbClr val="F7CBAC">
              <a:alpha val="80000"/>
            </a:srgbClr>
          </a:solidFill>
          <a:ln w="12700">
            <a:solidFill>
              <a:srgbClr val="F7CBAC">
                <a:alpha val="80000"/>
              </a:srgbClr>
            </a:solidFill>
            <a:prstDash val="solid"/>
          </a:ln>
        </p:spPr>
      </p:sp>
      <p:sp>
        <p:nvSpPr>
          <p:cNvPr id="4" name="Shape 2"/>
          <p:cNvSpPr/>
          <p:nvPr/>
        </p:nvSpPr>
        <p:spPr>
          <a:xfrm>
            <a:off x="4114800" y="0"/>
            <a:ext cx="8046720" cy="6858000"/>
          </a:xfrm>
          <a:prstGeom prst="rect">
            <a:avLst/>
          </a:prstGeom>
          <a:solidFill>
            <a:srgbClr val="FFFFFF"/>
          </a:solidFill>
          <a:ln w="12700">
            <a:solidFill>
              <a:srgbClr val="FFFFFF"/>
            </a:solidFill>
            <a:prstDash val="solid"/>
          </a:ln>
        </p:spPr>
      </p:sp>
      <p:sp>
        <p:nvSpPr>
          <p:cNvPr id="5" name="Text 3"/>
          <p:cNvSpPr/>
          <p:nvPr/>
        </p:nvSpPr>
        <p:spPr>
          <a:xfrm>
            <a:off x="274320" y="292608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Key</a:t>
            </a:r>
            <a:endParaRPr lang="en-US" sz="2800" dirty="0"/>
          </a:p>
        </p:txBody>
      </p:sp>
      <p:sp>
        <p:nvSpPr>
          <p:cNvPr id="6" name="Text 4"/>
          <p:cNvSpPr/>
          <p:nvPr/>
        </p:nvSpPr>
        <p:spPr>
          <a:xfrm>
            <a:off x="274320" y="352044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Insights</a:t>
            </a:r>
            <a:endParaRPr lang="en-US" sz="2800" dirty="0"/>
          </a:p>
        </p:txBody>
      </p:sp>
      <p:sp>
        <p:nvSpPr>
          <p:cNvPr id="7" name="Text 5"/>
          <p:cNvSpPr/>
          <p:nvPr/>
        </p:nvSpPr>
        <p:spPr>
          <a:xfrm>
            <a:off x="182880" y="4754880"/>
            <a:ext cx="3657600" cy="411480"/>
          </a:xfrm>
          <a:prstGeom prst="rect">
            <a:avLst/>
          </a:prstGeom>
          <a:noFill/>
          <a:ln/>
        </p:spPr>
        <p:txBody>
          <a:bodyPr wrap="square"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2023 vs 2024</a:t>
            </a:r>
            <a:endParaRPr lang="en-US" sz="1400" dirty="0"/>
          </a:p>
        </p:txBody>
      </p:sp>
      <p:sp>
        <p:nvSpPr>
          <p:cNvPr id="8" name="Text 6"/>
          <p:cNvSpPr/>
          <p:nvPr/>
        </p:nvSpPr>
        <p:spPr>
          <a:xfrm>
            <a:off x="4343400" y="274320"/>
            <a:ext cx="7498080" cy="868680"/>
          </a:xfrm>
          <a:prstGeom prst="rect">
            <a:avLst/>
          </a:prstGeom>
          <a:noFill/>
          <a:ln/>
        </p:spPr>
        <p:txBody>
          <a:bodyPr wrap="square" rtlCol="0" anchor="ctr"/>
          <a:lstStyle/>
          <a:p>
            <a:pPr marL="0" indent="0">
              <a:buNone/>
            </a:pPr>
            <a:r>
              <a:rPr lang="en-US" sz="1300" dirty="0">
                <a:solidFill>
                  <a:srgbClr val="000000"/>
                </a:solidFill>
                <a:latin typeface="Calibri" pitchFamily="34" charset="0"/>
                <a:ea typeface="Calibri" pitchFamily="34" charset="-122"/>
                <a:cs typeface="Calibri" pitchFamily="34" charset="-120"/>
              </a:rPr>
              <a:t>Patient volume grew by 12.4% from 4,338 in 2023 to 4,878 in 2024, while average wait time slightly increased from 35.03 to 35.47 minutes — indicating rising ER demand with only marginal service slowdown.</a:t>
            </a:r>
            <a:endParaRPr lang="en-US" sz="1300" dirty="0"/>
          </a:p>
        </p:txBody>
      </p:sp>
      <p:sp>
        <p:nvSpPr>
          <p:cNvPr id="9" name="Shape 7"/>
          <p:cNvSpPr/>
          <p:nvPr/>
        </p:nvSpPr>
        <p:spPr>
          <a:xfrm>
            <a:off x="4343400" y="1234440"/>
            <a:ext cx="2286000" cy="365760"/>
          </a:xfrm>
          <a:prstGeom prst="rect">
            <a:avLst/>
          </a:prstGeom>
          <a:solidFill>
            <a:srgbClr val="FFFFFF"/>
          </a:solidFill>
          <a:ln w="12700">
            <a:solidFill>
              <a:srgbClr val="FFFFFF"/>
            </a:solidFill>
            <a:prstDash val="solid"/>
          </a:ln>
        </p:spPr>
      </p:sp>
      <p:sp>
        <p:nvSpPr>
          <p:cNvPr id="10" name="Shape 8"/>
          <p:cNvSpPr/>
          <p:nvPr/>
        </p:nvSpPr>
        <p:spPr>
          <a:xfrm>
            <a:off x="6675120" y="1234440"/>
            <a:ext cx="2468880" cy="365760"/>
          </a:xfrm>
          <a:prstGeom prst="rect">
            <a:avLst/>
          </a:prstGeom>
          <a:solidFill>
            <a:srgbClr val="FFFFFF"/>
          </a:solidFill>
          <a:ln w="12700">
            <a:solidFill>
              <a:srgbClr val="FFFFFF"/>
            </a:solidFill>
            <a:prstDash val="solid"/>
          </a:ln>
        </p:spPr>
      </p:sp>
      <p:sp>
        <p:nvSpPr>
          <p:cNvPr id="11" name="Shape 9"/>
          <p:cNvSpPr/>
          <p:nvPr/>
        </p:nvSpPr>
        <p:spPr>
          <a:xfrm>
            <a:off x="9189720" y="1234440"/>
            <a:ext cx="2560320" cy="365760"/>
          </a:xfrm>
          <a:prstGeom prst="rect">
            <a:avLst/>
          </a:prstGeom>
          <a:solidFill>
            <a:srgbClr val="FFFFFF"/>
          </a:solidFill>
          <a:ln w="12700">
            <a:solidFill>
              <a:srgbClr val="FFFFFF"/>
            </a:solidFill>
            <a:prstDash val="solid"/>
          </a:ln>
        </p:spPr>
      </p:sp>
      <p:sp>
        <p:nvSpPr>
          <p:cNvPr id="12" name="Text 10"/>
          <p:cNvSpPr/>
          <p:nvPr/>
        </p:nvSpPr>
        <p:spPr>
          <a:xfrm>
            <a:off x="4343400" y="1234440"/>
            <a:ext cx="2286000" cy="365760"/>
          </a:xfrm>
          <a:prstGeom prst="rect">
            <a:avLst/>
          </a:prstGeom>
          <a:noFill/>
          <a:ln/>
        </p:spPr>
        <p:txBody>
          <a:bodyPr wrap="square" rtlCol="0" anchor="ctr"/>
          <a:lstStyle/>
          <a:p>
            <a:pPr marL="0" indent="0" algn="ctr">
              <a:buNone/>
            </a:pPr>
            <a:r>
              <a:rPr lang="en-US" sz="1200" b="1" dirty="0">
                <a:solidFill>
                  <a:srgbClr val="000000"/>
                </a:solidFill>
              </a:rPr>
              <a:t>Metric</a:t>
            </a:r>
            <a:endParaRPr lang="en-US" sz="1200" dirty="0"/>
          </a:p>
        </p:txBody>
      </p:sp>
      <p:sp>
        <p:nvSpPr>
          <p:cNvPr id="13" name="Text 11"/>
          <p:cNvSpPr/>
          <p:nvPr/>
        </p:nvSpPr>
        <p:spPr>
          <a:xfrm>
            <a:off x="6675120" y="1234440"/>
            <a:ext cx="2468880" cy="365760"/>
          </a:xfrm>
          <a:prstGeom prst="rect">
            <a:avLst/>
          </a:prstGeom>
          <a:noFill/>
          <a:ln/>
        </p:spPr>
        <p:txBody>
          <a:bodyPr wrap="square" rtlCol="0" anchor="ctr"/>
          <a:lstStyle/>
          <a:p>
            <a:pPr marL="0" indent="0" algn="ctr">
              <a:buNone/>
            </a:pPr>
            <a:r>
              <a:rPr lang="en-US" sz="1200" b="1" dirty="0">
                <a:solidFill>
                  <a:srgbClr val="000000"/>
                </a:solidFill>
              </a:rPr>
              <a:t>2023</a:t>
            </a:r>
            <a:endParaRPr lang="en-US" sz="1200" dirty="0"/>
          </a:p>
        </p:txBody>
      </p:sp>
      <p:sp>
        <p:nvSpPr>
          <p:cNvPr id="14" name="Text 12"/>
          <p:cNvSpPr/>
          <p:nvPr/>
        </p:nvSpPr>
        <p:spPr>
          <a:xfrm>
            <a:off x="9189720" y="1234440"/>
            <a:ext cx="2560320" cy="365760"/>
          </a:xfrm>
          <a:prstGeom prst="rect">
            <a:avLst/>
          </a:prstGeom>
          <a:noFill/>
          <a:ln/>
        </p:spPr>
        <p:txBody>
          <a:bodyPr wrap="square" rtlCol="0" anchor="ctr"/>
          <a:lstStyle/>
          <a:p>
            <a:pPr marL="0" indent="0" algn="ctr">
              <a:buNone/>
            </a:pPr>
            <a:r>
              <a:rPr lang="en-US" sz="1200" b="1" dirty="0">
                <a:solidFill>
                  <a:srgbClr val="000000"/>
                </a:solidFill>
              </a:rPr>
              <a:t>2024</a:t>
            </a:r>
            <a:endParaRPr lang="en-US" sz="1200" dirty="0"/>
          </a:p>
        </p:txBody>
      </p:sp>
      <p:sp>
        <p:nvSpPr>
          <p:cNvPr id="15" name="Shape 13"/>
          <p:cNvSpPr/>
          <p:nvPr/>
        </p:nvSpPr>
        <p:spPr>
          <a:xfrm>
            <a:off x="4343400" y="1627632"/>
            <a:ext cx="2286000" cy="594360"/>
          </a:xfrm>
          <a:prstGeom prst="rect">
            <a:avLst/>
          </a:prstGeom>
          <a:solidFill>
            <a:srgbClr val="FFFFFF"/>
          </a:solidFill>
          <a:ln w="12700">
            <a:solidFill>
              <a:srgbClr val="FFFFFF"/>
            </a:solidFill>
            <a:prstDash val="solid"/>
          </a:ln>
        </p:spPr>
      </p:sp>
      <p:sp>
        <p:nvSpPr>
          <p:cNvPr id="16" name="Shape 14"/>
          <p:cNvSpPr/>
          <p:nvPr/>
        </p:nvSpPr>
        <p:spPr>
          <a:xfrm>
            <a:off x="6675120" y="1627632"/>
            <a:ext cx="2468880" cy="594360"/>
          </a:xfrm>
          <a:prstGeom prst="rect">
            <a:avLst/>
          </a:prstGeom>
          <a:solidFill>
            <a:srgbClr val="FFFFFF"/>
          </a:solidFill>
          <a:ln w="12700">
            <a:solidFill>
              <a:srgbClr val="FFFFFF"/>
            </a:solidFill>
            <a:prstDash val="solid"/>
          </a:ln>
        </p:spPr>
      </p:sp>
      <p:sp>
        <p:nvSpPr>
          <p:cNvPr id="17" name="Shape 15"/>
          <p:cNvSpPr/>
          <p:nvPr/>
        </p:nvSpPr>
        <p:spPr>
          <a:xfrm>
            <a:off x="9189720" y="1627632"/>
            <a:ext cx="2560320" cy="594360"/>
          </a:xfrm>
          <a:prstGeom prst="rect">
            <a:avLst/>
          </a:prstGeom>
          <a:solidFill>
            <a:srgbClr val="FFFFFF"/>
          </a:solidFill>
          <a:ln w="12700">
            <a:solidFill>
              <a:srgbClr val="FFFFFF"/>
            </a:solidFill>
            <a:prstDash val="solid"/>
          </a:ln>
        </p:spPr>
      </p:sp>
      <p:sp>
        <p:nvSpPr>
          <p:cNvPr id="18" name="Text 16"/>
          <p:cNvSpPr/>
          <p:nvPr/>
        </p:nvSpPr>
        <p:spPr>
          <a:xfrm>
            <a:off x="4343400" y="1627632"/>
            <a:ext cx="2286000" cy="594360"/>
          </a:xfrm>
          <a:prstGeom prst="rect">
            <a:avLst/>
          </a:prstGeom>
          <a:noFill/>
          <a:ln/>
        </p:spPr>
        <p:txBody>
          <a:bodyPr wrap="square" rtlCol="0" anchor="ctr"/>
          <a:lstStyle/>
          <a:p>
            <a:pPr marL="0" indent="0" algn="ctr">
              <a:buNone/>
            </a:pPr>
            <a:r>
              <a:rPr lang="en-US" sz="1150" b="1" dirty="0">
                <a:solidFill>
                  <a:srgbClr val="000000"/>
                </a:solidFill>
              </a:rPr>
              <a:t>👤 Total Patients</a:t>
            </a:r>
            <a:endParaRPr lang="en-US" sz="1150" dirty="0"/>
          </a:p>
        </p:txBody>
      </p:sp>
      <p:sp>
        <p:nvSpPr>
          <p:cNvPr id="19" name="Text 17"/>
          <p:cNvSpPr/>
          <p:nvPr/>
        </p:nvSpPr>
        <p:spPr>
          <a:xfrm>
            <a:off x="6675120" y="1627632"/>
            <a:ext cx="2468880" cy="594360"/>
          </a:xfrm>
          <a:prstGeom prst="rect">
            <a:avLst/>
          </a:prstGeom>
          <a:noFill/>
          <a:ln/>
        </p:spPr>
        <p:txBody>
          <a:bodyPr wrap="square" rtlCol="0" anchor="ctr"/>
          <a:lstStyle/>
          <a:p>
            <a:pPr marL="0" indent="0" algn="ctr">
              <a:buNone/>
            </a:pPr>
            <a:r>
              <a:rPr lang="en-US" sz="1300" b="1" dirty="0">
                <a:solidFill>
                  <a:srgbClr val="000000"/>
                </a:solidFill>
              </a:rPr>
              <a:t>4,338</a:t>
            </a:r>
            <a:endParaRPr lang="en-US" sz="1300" dirty="0"/>
          </a:p>
        </p:txBody>
      </p:sp>
      <p:sp>
        <p:nvSpPr>
          <p:cNvPr id="20" name="Text 18"/>
          <p:cNvSpPr/>
          <p:nvPr/>
        </p:nvSpPr>
        <p:spPr>
          <a:xfrm>
            <a:off x="9189720" y="1627632"/>
            <a:ext cx="2560320" cy="594360"/>
          </a:xfrm>
          <a:prstGeom prst="rect">
            <a:avLst/>
          </a:prstGeom>
          <a:noFill/>
          <a:ln/>
        </p:spPr>
        <p:txBody>
          <a:bodyPr wrap="square" rtlCol="0" anchor="ctr"/>
          <a:lstStyle/>
          <a:p>
            <a:pPr marL="0" indent="0" algn="ctr">
              <a:buNone/>
            </a:pPr>
            <a:r>
              <a:rPr lang="en-US" sz="1300" b="1" dirty="0">
                <a:solidFill>
                  <a:srgbClr val="000000"/>
                </a:solidFill>
              </a:rPr>
              <a:t>4,878</a:t>
            </a:r>
            <a:endParaRPr lang="en-US" sz="1300" dirty="0"/>
          </a:p>
        </p:txBody>
      </p:sp>
      <p:sp>
        <p:nvSpPr>
          <p:cNvPr id="21" name="Shape 19"/>
          <p:cNvSpPr/>
          <p:nvPr/>
        </p:nvSpPr>
        <p:spPr>
          <a:xfrm>
            <a:off x="4343400" y="2286000"/>
            <a:ext cx="2286000" cy="594360"/>
          </a:xfrm>
          <a:prstGeom prst="rect">
            <a:avLst/>
          </a:prstGeom>
          <a:solidFill>
            <a:srgbClr val="FFFFFF"/>
          </a:solidFill>
          <a:ln w="12700">
            <a:solidFill>
              <a:srgbClr val="FFFFFF"/>
            </a:solidFill>
            <a:prstDash val="solid"/>
          </a:ln>
        </p:spPr>
      </p:sp>
      <p:sp>
        <p:nvSpPr>
          <p:cNvPr id="22" name="Shape 20"/>
          <p:cNvSpPr/>
          <p:nvPr/>
        </p:nvSpPr>
        <p:spPr>
          <a:xfrm>
            <a:off x="6675120" y="2286000"/>
            <a:ext cx="2468880" cy="594360"/>
          </a:xfrm>
          <a:prstGeom prst="rect">
            <a:avLst/>
          </a:prstGeom>
          <a:solidFill>
            <a:srgbClr val="FFFFFF"/>
          </a:solidFill>
          <a:ln w="12700">
            <a:solidFill>
              <a:srgbClr val="FFFFFF"/>
            </a:solidFill>
            <a:prstDash val="solid"/>
          </a:ln>
        </p:spPr>
      </p:sp>
      <p:sp>
        <p:nvSpPr>
          <p:cNvPr id="23" name="Shape 21"/>
          <p:cNvSpPr/>
          <p:nvPr/>
        </p:nvSpPr>
        <p:spPr>
          <a:xfrm>
            <a:off x="9189720" y="2286000"/>
            <a:ext cx="2560320" cy="594360"/>
          </a:xfrm>
          <a:prstGeom prst="rect">
            <a:avLst/>
          </a:prstGeom>
          <a:solidFill>
            <a:srgbClr val="FFFFFF"/>
          </a:solidFill>
          <a:ln w="12700">
            <a:solidFill>
              <a:srgbClr val="FFFFFF"/>
            </a:solidFill>
            <a:prstDash val="solid"/>
          </a:ln>
        </p:spPr>
      </p:sp>
      <p:sp>
        <p:nvSpPr>
          <p:cNvPr id="24" name="Text 22"/>
          <p:cNvSpPr/>
          <p:nvPr/>
        </p:nvSpPr>
        <p:spPr>
          <a:xfrm>
            <a:off x="4343400" y="2286000"/>
            <a:ext cx="2286000" cy="594360"/>
          </a:xfrm>
          <a:prstGeom prst="rect">
            <a:avLst/>
          </a:prstGeom>
          <a:noFill/>
          <a:ln/>
        </p:spPr>
        <p:txBody>
          <a:bodyPr wrap="square" rtlCol="0" anchor="ctr"/>
          <a:lstStyle/>
          <a:p>
            <a:pPr marL="0" indent="0" algn="ctr">
              <a:buNone/>
            </a:pPr>
            <a:r>
              <a:rPr lang="en-US" sz="1150" b="1" dirty="0">
                <a:solidFill>
                  <a:srgbClr val="000000"/>
                </a:solidFill>
              </a:rPr>
              <a:t>⏱ Avg Wait Time</a:t>
            </a:r>
            <a:endParaRPr lang="en-US" sz="1150" dirty="0"/>
          </a:p>
        </p:txBody>
      </p:sp>
      <p:sp>
        <p:nvSpPr>
          <p:cNvPr id="25" name="Text 23"/>
          <p:cNvSpPr/>
          <p:nvPr/>
        </p:nvSpPr>
        <p:spPr>
          <a:xfrm>
            <a:off x="6675120" y="2286000"/>
            <a:ext cx="2468880" cy="594360"/>
          </a:xfrm>
          <a:prstGeom prst="rect">
            <a:avLst/>
          </a:prstGeom>
          <a:noFill/>
          <a:ln/>
        </p:spPr>
        <p:txBody>
          <a:bodyPr wrap="square" rtlCol="0" anchor="ctr"/>
          <a:lstStyle/>
          <a:p>
            <a:pPr marL="0" indent="0" algn="ctr">
              <a:buNone/>
            </a:pPr>
            <a:r>
              <a:rPr lang="en-US" sz="1300" b="1" dirty="0">
                <a:solidFill>
                  <a:srgbClr val="000000"/>
                </a:solidFill>
              </a:rPr>
              <a:t>35.03 min</a:t>
            </a:r>
            <a:endParaRPr lang="en-US" sz="1300" dirty="0"/>
          </a:p>
        </p:txBody>
      </p:sp>
      <p:sp>
        <p:nvSpPr>
          <p:cNvPr id="26" name="Text 24"/>
          <p:cNvSpPr/>
          <p:nvPr/>
        </p:nvSpPr>
        <p:spPr>
          <a:xfrm>
            <a:off x="9189720" y="2286000"/>
            <a:ext cx="2560320" cy="594360"/>
          </a:xfrm>
          <a:prstGeom prst="rect">
            <a:avLst/>
          </a:prstGeom>
          <a:noFill/>
          <a:ln/>
        </p:spPr>
        <p:txBody>
          <a:bodyPr wrap="square" rtlCol="0" anchor="ctr"/>
          <a:lstStyle/>
          <a:p>
            <a:pPr marL="0" indent="0" algn="ctr">
              <a:buNone/>
            </a:pPr>
            <a:r>
              <a:rPr lang="en-US" sz="1300" b="1" dirty="0">
                <a:solidFill>
                  <a:srgbClr val="000000"/>
                </a:solidFill>
              </a:rPr>
              <a:t>35.47 min</a:t>
            </a:r>
            <a:endParaRPr lang="en-US" sz="1300" dirty="0"/>
          </a:p>
        </p:txBody>
      </p:sp>
      <p:sp>
        <p:nvSpPr>
          <p:cNvPr id="27" name="Shape 25"/>
          <p:cNvSpPr/>
          <p:nvPr/>
        </p:nvSpPr>
        <p:spPr>
          <a:xfrm>
            <a:off x="4343400" y="2944368"/>
            <a:ext cx="2286000" cy="594360"/>
          </a:xfrm>
          <a:prstGeom prst="rect">
            <a:avLst/>
          </a:prstGeom>
          <a:solidFill>
            <a:srgbClr val="FFFFFF"/>
          </a:solidFill>
          <a:ln w="12700">
            <a:solidFill>
              <a:srgbClr val="FFFFFF"/>
            </a:solidFill>
            <a:prstDash val="solid"/>
          </a:ln>
        </p:spPr>
      </p:sp>
      <p:sp>
        <p:nvSpPr>
          <p:cNvPr id="28" name="Shape 26"/>
          <p:cNvSpPr/>
          <p:nvPr/>
        </p:nvSpPr>
        <p:spPr>
          <a:xfrm>
            <a:off x="6675120" y="2944368"/>
            <a:ext cx="2468880" cy="594360"/>
          </a:xfrm>
          <a:prstGeom prst="rect">
            <a:avLst/>
          </a:prstGeom>
          <a:solidFill>
            <a:srgbClr val="FFFFFF"/>
          </a:solidFill>
          <a:ln w="12700">
            <a:solidFill>
              <a:srgbClr val="FFFFFF"/>
            </a:solidFill>
            <a:prstDash val="solid"/>
          </a:ln>
        </p:spPr>
      </p:sp>
      <p:sp>
        <p:nvSpPr>
          <p:cNvPr id="29" name="Shape 27"/>
          <p:cNvSpPr/>
          <p:nvPr/>
        </p:nvSpPr>
        <p:spPr>
          <a:xfrm>
            <a:off x="9189720" y="2944368"/>
            <a:ext cx="2560320" cy="594360"/>
          </a:xfrm>
          <a:prstGeom prst="rect">
            <a:avLst/>
          </a:prstGeom>
          <a:solidFill>
            <a:srgbClr val="FFFFFF"/>
          </a:solidFill>
          <a:ln w="12700">
            <a:solidFill>
              <a:srgbClr val="FFFFFF"/>
            </a:solidFill>
            <a:prstDash val="solid"/>
          </a:ln>
        </p:spPr>
      </p:sp>
      <p:sp>
        <p:nvSpPr>
          <p:cNvPr id="30" name="Text 28"/>
          <p:cNvSpPr/>
          <p:nvPr/>
        </p:nvSpPr>
        <p:spPr>
          <a:xfrm>
            <a:off x="4343400" y="2944368"/>
            <a:ext cx="2286000" cy="594360"/>
          </a:xfrm>
          <a:prstGeom prst="rect">
            <a:avLst/>
          </a:prstGeom>
          <a:noFill/>
          <a:ln/>
        </p:spPr>
        <p:txBody>
          <a:bodyPr wrap="square" rtlCol="0" anchor="ctr"/>
          <a:lstStyle/>
          <a:p>
            <a:pPr marL="0" indent="0" algn="ctr">
              <a:buNone/>
            </a:pPr>
            <a:r>
              <a:rPr lang="en-US" sz="1150" b="1" dirty="0">
                <a:solidFill>
                  <a:srgbClr val="000000"/>
                </a:solidFill>
              </a:rPr>
              <a:t>⭐ Avg Satisfaction</a:t>
            </a:r>
            <a:endParaRPr lang="en-US" sz="1150" dirty="0"/>
          </a:p>
        </p:txBody>
      </p:sp>
      <p:sp>
        <p:nvSpPr>
          <p:cNvPr id="31" name="Text 29"/>
          <p:cNvSpPr/>
          <p:nvPr/>
        </p:nvSpPr>
        <p:spPr>
          <a:xfrm>
            <a:off x="6675120" y="2944368"/>
            <a:ext cx="2468880" cy="594360"/>
          </a:xfrm>
          <a:prstGeom prst="rect">
            <a:avLst/>
          </a:prstGeom>
          <a:noFill/>
          <a:ln/>
        </p:spPr>
        <p:txBody>
          <a:bodyPr wrap="square" rtlCol="0" anchor="ctr"/>
          <a:lstStyle/>
          <a:p>
            <a:pPr marL="0" indent="0" algn="ctr">
              <a:buNone/>
            </a:pPr>
            <a:r>
              <a:rPr lang="en-US" sz="1300" b="1" dirty="0">
                <a:solidFill>
                  <a:srgbClr val="000000"/>
                </a:solidFill>
              </a:rPr>
              <a:t>5.03 / 10</a:t>
            </a:r>
            <a:endParaRPr lang="en-US" sz="1300" dirty="0"/>
          </a:p>
        </p:txBody>
      </p:sp>
      <p:sp>
        <p:nvSpPr>
          <p:cNvPr id="32" name="Text 30"/>
          <p:cNvSpPr/>
          <p:nvPr/>
        </p:nvSpPr>
        <p:spPr>
          <a:xfrm>
            <a:off x="9189720" y="2944368"/>
            <a:ext cx="2560320" cy="594360"/>
          </a:xfrm>
          <a:prstGeom prst="rect">
            <a:avLst/>
          </a:prstGeom>
          <a:noFill/>
          <a:ln/>
        </p:spPr>
        <p:txBody>
          <a:bodyPr wrap="square" rtlCol="0" anchor="ctr"/>
          <a:lstStyle/>
          <a:p>
            <a:pPr marL="0" indent="0" algn="ctr">
              <a:buNone/>
            </a:pPr>
            <a:r>
              <a:rPr lang="en-US" sz="1300" b="1" dirty="0">
                <a:solidFill>
                  <a:srgbClr val="000000"/>
                </a:solidFill>
              </a:rPr>
              <a:t>4.96 / 10</a:t>
            </a:r>
            <a:endParaRPr lang="en-US" sz="1300" dirty="0"/>
          </a:p>
        </p:txBody>
      </p:sp>
      <p:sp>
        <p:nvSpPr>
          <p:cNvPr id="33" name="Shape 31"/>
          <p:cNvSpPr/>
          <p:nvPr/>
        </p:nvSpPr>
        <p:spPr>
          <a:xfrm>
            <a:off x="4343400" y="3602736"/>
            <a:ext cx="2286000" cy="594360"/>
          </a:xfrm>
          <a:prstGeom prst="rect">
            <a:avLst/>
          </a:prstGeom>
          <a:solidFill>
            <a:srgbClr val="FFFFFF"/>
          </a:solidFill>
          <a:ln w="12700">
            <a:solidFill>
              <a:srgbClr val="FFFFFF"/>
            </a:solidFill>
            <a:prstDash val="solid"/>
          </a:ln>
        </p:spPr>
      </p:sp>
      <p:sp>
        <p:nvSpPr>
          <p:cNvPr id="34" name="Shape 32"/>
          <p:cNvSpPr/>
          <p:nvPr/>
        </p:nvSpPr>
        <p:spPr>
          <a:xfrm>
            <a:off x="6675120" y="3602736"/>
            <a:ext cx="2468880" cy="594360"/>
          </a:xfrm>
          <a:prstGeom prst="rect">
            <a:avLst/>
          </a:prstGeom>
          <a:solidFill>
            <a:srgbClr val="FFFFFF"/>
          </a:solidFill>
          <a:ln w="12700">
            <a:solidFill>
              <a:srgbClr val="FFFFFF"/>
            </a:solidFill>
            <a:prstDash val="solid"/>
          </a:ln>
        </p:spPr>
      </p:sp>
      <p:sp>
        <p:nvSpPr>
          <p:cNvPr id="35" name="Shape 33"/>
          <p:cNvSpPr/>
          <p:nvPr/>
        </p:nvSpPr>
        <p:spPr>
          <a:xfrm>
            <a:off x="9189720" y="3602736"/>
            <a:ext cx="2560320" cy="594360"/>
          </a:xfrm>
          <a:prstGeom prst="rect">
            <a:avLst/>
          </a:prstGeom>
          <a:solidFill>
            <a:srgbClr val="FFFFFF"/>
          </a:solidFill>
          <a:ln w="12700">
            <a:solidFill>
              <a:srgbClr val="FFFFFF"/>
            </a:solidFill>
            <a:prstDash val="solid"/>
          </a:ln>
        </p:spPr>
      </p:sp>
      <p:sp>
        <p:nvSpPr>
          <p:cNvPr id="36" name="Text 34"/>
          <p:cNvSpPr/>
          <p:nvPr/>
        </p:nvSpPr>
        <p:spPr>
          <a:xfrm>
            <a:off x="4343400" y="3602736"/>
            <a:ext cx="2286000" cy="594360"/>
          </a:xfrm>
          <a:prstGeom prst="rect">
            <a:avLst/>
          </a:prstGeom>
          <a:noFill/>
          <a:ln/>
        </p:spPr>
        <p:txBody>
          <a:bodyPr wrap="square" rtlCol="0" anchor="ctr"/>
          <a:lstStyle/>
          <a:p>
            <a:pPr marL="0" indent="0" algn="ctr">
              <a:buNone/>
            </a:pPr>
            <a:r>
              <a:rPr lang="en-US" sz="1150" b="1" dirty="0">
                <a:solidFill>
                  <a:srgbClr val="000000"/>
                </a:solidFill>
              </a:rPr>
              <a:t>🏥 Admitted</a:t>
            </a:r>
            <a:endParaRPr lang="en-US" sz="1150" dirty="0"/>
          </a:p>
        </p:txBody>
      </p:sp>
      <p:sp>
        <p:nvSpPr>
          <p:cNvPr id="37" name="Text 35"/>
          <p:cNvSpPr/>
          <p:nvPr/>
        </p:nvSpPr>
        <p:spPr>
          <a:xfrm>
            <a:off x="6675120" y="3602736"/>
            <a:ext cx="2468880" cy="594360"/>
          </a:xfrm>
          <a:prstGeom prst="rect">
            <a:avLst/>
          </a:prstGeom>
          <a:noFill/>
          <a:ln/>
        </p:spPr>
        <p:txBody>
          <a:bodyPr wrap="square" rtlCol="0" anchor="ctr"/>
          <a:lstStyle/>
          <a:p>
            <a:pPr marL="0" indent="0" algn="ctr">
              <a:buNone/>
            </a:pPr>
            <a:r>
              <a:rPr lang="en-US" sz="1300" b="1" dirty="0">
                <a:solidFill>
                  <a:srgbClr val="000000"/>
                </a:solidFill>
              </a:rPr>
              <a:t>2,157 (49.7%)</a:t>
            </a:r>
            <a:endParaRPr lang="en-US" sz="1300" dirty="0"/>
          </a:p>
        </p:txBody>
      </p:sp>
      <p:sp>
        <p:nvSpPr>
          <p:cNvPr id="38" name="Text 36"/>
          <p:cNvSpPr/>
          <p:nvPr/>
        </p:nvSpPr>
        <p:spPr>
          <a:xfrm>
            <a:off x="9189720" y="3602736"/>
            <a:ext cx="2560320" cy="594360"/>
          </a:xfrm>
          <a:prstGeom prst="rect">
            <a:avLst/>
          </a:prstGeom>
          <a:noFill/>
          <a:ln/>
        </p:spPr>
        <p:txBody>
          <a:bodyPr wrap="square" rtlCol="0" anchor="ctr"/>
          <a:lstStyle/>
          <a:p>
            <a:pPr marL="0" indent="0" algn="ctr">
              <a:buNone/>
            </a:pPr>
            <a:r>
              <a:rPr lang="en-US" sz="1300" b="1" dirty="0">
                <a:solidFill>
                  <a:srgbClr val="000000"/>
                </a:solidFill>
              </a:rPr>
              <a:t>2,455 (50.3%)</a:t>
            </a:r>
            <a:endParaRPr lang="en-US" sz="1300" dirty="0"/>
          </a:p>
        </p:txBody>
      </p:sp>
      <p:sp>
        <p:nvSpPr>
          <p:cNvPr id="39" name="Shape 37"/>
          <p:cNvSpPr/>
          <p:nvPr/>
        </p:nvSpPr>
        <p:spPr>
          <a:xfrm>
            <a:off x="4343400" y="4261104"/>
            <a:ext cx="2286000" cy="594360"/>
          </a:xfrm>
          <a:prstGeom prst="rect">
            <a:avLst/>
          </a:prstGeom>
          <a:solidFill>
            <a:srgbClr val="FFFFFF"/>
          </a:solidFill>
          <a:ln w="12700">
            <a:solidFill>
              <a:srgbClr val="FFFFFF"/>
            </a:solidFill>
            <a:prstDash val="solid"/>
          </a:ln>
        </p:spPr>
      </p:sp>
      <p:sp>
        <p:nvSpPr>
          <p:cNvPr id="40" name="Shape 38"/>
          <p:cNvSpPr/>
          <p:nvPr/>
        </p:nvSpPr>
        <p:spPr>
          <a:xfrm>
            <a:off x="6675120" y="4261104"/>
            <a:ext cx="2468880" cy="594360"/>
          </a:xfrm>
          <a:prstGeom prst="rect">
            <a:avLst/>
          </a:prstGeom>
          <a:solidFill>
            <a:srgbClr val="FFFFFF"/>
          </a:solidFill>
          <a:ln w="12700">
            <a:solidFill>
              <a:srgbClr val="FFFFFF"/>
            </a:solidFill>
            <a:prstDash val="solid"/>
          </a:ln>
        </p:spPr>
      </p:sp>
      <p:sp>
        <p:nvSpPr>
          <p:cNvPr id="41" name="Shape 39"/>
          <p:cNvSpPr/>
          <p:nvPr/>
        </p:nvSpPr>
        <p:spPr>
          <a:xfrm>
            <a:off x="9189720" y="4261104"/>
            <a:ext cx="2560320" cy="594360"/>
          </a:xfrm>
          <a:prstGeom prst="rect">
            <a:avLst/>
          </a:prstGeom>
          <a:solidFill>
            <a:srgbClr val="FFFFFF"/>
          </a:solidFill>
          <a:ln w="12700">
            <a:solidFill>
              <a:srgbClr val="FFFFFF"/>
            </a:solidFill>
            <a:prstDash val="solid"/>
          </a:ln>
        </p:spPr>
      </p:sp>
      <p:sp>
        <p:nvSpPr>
          <p:cNvPr id="42" name="Text 40"/>
          <p:cNvSpPr/>
          <p:nvPr/>
        </p:nvSpPr>
        <p:spPr>
          <a:xfrm>
            <a:off x="4343400" y="4261104"/>
            <a:ext cx="2286000" cy="594360"/>
          </a:xfrm>
          <a:prstGeom prst="rect">
            <a:avLst/>
          </a:prstGeom>
          <a:noFill/>
          <a:ln/>
        </p:spPr>
        <p:txBody>
          <a:bodyPr wrap="square" rtlCol="0" anchor="ctr"/>
          <a:lstStyle/>
          <a:p>
            <a:pPr marL="0" indent="0" algn="ctr">
              <a:buNone/>
            </a:pPr>
            <a:r>
              <a:rPr lang="en-US" sz="1150" b="1" dirty="0">
                <a:solidFill>
                  <a:srgbClr val="000000"/>
                </a:solidFill>
              </a:rPr>
              <a:t>🚶 Not Admitted</a:t>
            </a:r>
            <a:endParaRPr lang="en-US" sz="1150" dirty="0"/>
          </a:p>
        </p:txBody>
      </p:sp>
      <p:sp>
        <p:nvSpPr>
          <p:cNvPr id="43" name="Text 41"/>
          <p:cNvSpPr/>
          <p:nvPr/>
        </p:nvSpPr>
        <p:spPr>
          <a:xfrm>
            <a:off x="6675120" y="4261104"/>
            <a:ext cx="2468880" cy="594360"/>
          </a:xfrm>
          <a:prstGeom prst="rect">
            <a:avLst/>
          </a:prstGeom>
          <a:noFill/>
          <a:ln/>
        </p:spPr>
        <p:txBody>
          <a:bodyPr wrap="square" rtlCol="0" anchor="ctr"/>
          <a:lstStyle/>
          <a:p>
            <a:pPr marL="0" indent="0" algn="ctr">
              <a:buNone/>
            </a:pPr>
            <a:r>
              <a:rPr lang="en-US" sz="1300" b="1" dirty="0">
                <a:solidFill>
                  <a:srgbClr val="000000"/>
                </a:solidFill>
              </a:rPr>
              <a:t>2,181 (50.3%)</a:t>
            </a:r>
            <a:endParaRPr lang="en-US" sz="1300" dirty="0"/>
          </a:p>
        </p:txBody>
      </p:sp>
      <p:sp>
        <p:nvSpPr>
          <p:cNvPr id="44" name="Text 42"/>
          <p:cNvSpPr/>
          <p:nvPr/>
        </p:nvSpPr>
        <p:spPr>
          <a:xfrm>
            <a:off x="9189720" y="4261104"/>
            <a:ext cx="2560320" cy="594360"/>
          </a:xfrm>
          <a:prstGeom prst="rect">
            <a:avLst/>
          </a:prstGeom>
          <a:noFill/>
          <a:ln/>
        </p:spPr>
        <p:txBody>
          <a:bodyPr wrap="square" rtlCol="0" anchor="ctr"/>
          <a:lstStyle/>
          <a:p>
            <a:pPr marL="0" indent="0" algn="ctr">
              <a:buNone/>
            </a:pPr>
            <a:r>
              <a:rPr lang="en-US" sz="1300" b="1" dirty="0">
                <a:solidFill>
                  <a:srgbClr val="000000"/>
                </a:solidFill>
              </a:rPr>
              <a:t>2,423 (49.7%)</a:t>
            </a:r>
            <a:endParaRPr lang="en-US" sz="1300" dirty="0"/>
          </a:p>
        </p:txBody>
      </p:sp>
      <p:sp>
        <p:nvSpPr>
          <p:cNvPr id="45" name="Text 43"/>
          <p:cNvSpPr/>
          <p:nvPr/>
        </p:nvSpPr>
        <p:spPr>
          <a:xfrm>
            <a:off x="4343400" y="5138928"/>
            <a:ext cx="7498080" cy="685800"/>
          </a:xfrm>
          <a:prstGeom prst="rect">
            <a:avLst/>
          </a:prstGeom>
          <a:noFill/>
          <a:ln/>
        </p:spPr>
        <p:txBody>
          <a:bodyPr wrap="square" rtlCol="0" anchor="ctr"/>
          <a:lstStyle/>
          <a:p>
            <a:pPr marL="0" indent="0">
              <a:buNone/>
            </a:pPr>
            <a:r>
              <a:rPr lang="en-US" sz="1150" i="1" dirty="0">
                <a:solidFill>
                  <a:srgbClr val="000000"/>
                </a:solidFill>
                <a:latin typeface="Calibri" pitchFamily="34" charset="0"/>
                <a:ea typeface="Calibri" pitchFamily="34" charset="-122"/>
                <a:cs typeface="Calibri" pitchFamily="34" charset="-120"/>
              </a:rPr>
              <a:t>Patient volume grew 12.4% year-on-year with admission rates nearly balanced. Satisfaction score dipped slightly (5.03 → 4.96), suggesting demand is outpacing capacity.</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7CBAC"/>
          </a:solidFill>
          <a:ln w="12700">
            <a:solidFill>
              <a:srgbClr val="F7CBAC"/>
            </a:solidFill>
            <a:prstDash val="solid"/>
          </a:ln>
        </p:spPr>
      </p:sp>
      <p:sp>
        <p:nvSpPr>
          <p:cNvPr id="3" name="Shape 1"/>
          <p:cNvSpPr/>
          <p:nvPr/>
        </p:nvSpPr>
        <p:spPr>
          <a:xfrm>
            <a:off x="0" y="0"/>
            <a:ext cx="4114800" cy="2286000"/>
          </a:xfrm>
          <a:prstGeom prst="rect">
            <a:avLst/>
          </a:prstGeom>
          <a:solidFill>
            <a:srgbClr val="F7CBAC">
              <a:alpha val="80000"/>
            </a:srgbClr>
          </a:solidFill>
          <a:ln w="12700">
            <a:solidFill>
              <a:srgbClr val="F7CBAC">
                <a:alpha val="80000"/>
              </a:srgbClr>
            </a:solidFill>
            <a:prstDash val="solid"/>
          </a:ln>
        </p:spPr>
      </p:sp>
      <p:sp>
        <p:nvSpPr>
          <p:cNvPr id="4" name="Shape 2"/>
          <p:cNvSpPr/>
          <p:nvPr/>
        </p:nvSpPr>
        <p:spPr>
          <a:xfrm>
            <a:off x="4114800" y="0"/>
            <a:ext cx="8046720" cy="6858000"/>
          </a:xfrm>
          <a:prstGeom prst="rect">
            <a:avLst/>
          </a:prstGeom>
          <a:solidFill>
            <a:srgbClr val="FFFFFF"/>
          </a:solidFill>
          <a:ln w="12700">
            <a:solidFill>
              <a:srgbClr val="FFFFFF"/>
            </a:solidFill>
            <a:prstDash val="solid"/>
          </a:ln>
        </p:spPr>
      </p:sp>
      <p:sp>
        <p:nvSpPr>
          <p:cNvPr id="5" name="Text 3"/>
          <p:cNvSpPr/>
          <p:nvPr/>
        </p:nvSpPr>
        <p:spPr>
          <a:xfrm>
            <a:off x="274320" y="292608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Key</a:t>
            </a:r>
            <a:endParaRPr lang="en-US" sz="2800" dirty="0"/>
          </a:p>
        </p:txBody>
      </p:sp>
      <p:sp>
        <p:nvSpPr>
          <p:cNvPr id="6" name="Text 4"/>
          <p:cNvSpPr/>
          <p:nvPr/>
        </p:nvSpPr>
        <p:spPr>
          <a:xfrm>
            <a:off x="274320" y="352044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Insights</a:t>
            </a:r>
            <a:endParaRPr lang="en-US" sz="2800" dirty="0"/>
          </a:p>
        </p:txBody>
      </p:sp>
      <p:sp>
        <p:nvSpPr>
          <p:cNvPr id="7" name="Text 5"/>
          <p:cNvSpPr/>
          <p:nvPr/>
        </p:nvSpPr>
        <p:spPr>
          <a:xfrm>
            <a:off x="182880" y="4434840"/>
            <a:ext cx="3657600" cy="640080"/>
          </a:xfrm>
          <a:prstGeom prst="rect">
            <a:avLst/>
          </a:prstGeom>
          <a:noFill/>
          <a:ln/>
        </p:spPr>
        <p:txBody>
          <a:bodyPr wrap="square" rtlCol="0" anchor="ctr"/>
          <a:lstStyle/>
          <a:p>
            <a:pPr marL="0" indent="0" algn="ctr">
              <a:buNone/>
            </a:pPr>
            <a:r>
              <a:rPr lang="en-US" sz="1300" dirty="0">
                <a:solidFill>
                  <a:srgbClr val="000000"/>
                </a:solidFill>
                <a:latin typeface="Calibri" pitchFamily="34" charset="0"/>
                <a:ea typeface="Calibri" pitchFamily="34" charset="-122"/>
                <a:cs typeface="Calibri" pitchFamily="34" charset="-120"/>
              </a:rPr>
              <a:t>Gender &amp;</a:t>
            </a:r>
            <a:endParaRPr lang="en-US" sz="1300" dirty="0"/>
          </a:p>
          <a:p>
            <a:pPr marL="0" indent="0" algn="ctr">
              <a:buNone/>
            </a:pPr>
            <a:r>
              <a:rPr lang="en-US" sz="1300" dirty="0">
                <a:solidFill>
                  <a:srgbClr val="000000"/>
                </a:solidFill>
                <a:latin typeface="Calibri" pitchFamily="34" charset="0"/>
                <a:ea typeface="Calibri" pitchFamily="34" charset="-122"/>
                <a:cs typeface="Calibri" pitchFamily="34" charset="-120"/>
              </a:rPr>
              <a:t>Attendance</a:t>
            </a:r>
            <a:endParaRPr lang="en-US" sz="1300" dirty="0"/>
          </a:p>
        </p:txBody>
      </p:sp>
      <p:sp>
        <p:nvSpPr>
          <p:cNvPr id="8" name="Text 6"/>
          <p:cNvSpPr/>
          <p:nvPr/>
        </p:nvSpPr>
        <p:spPr>
          <a:xfrm>
            <a:off x="4343400" y="274320"/>
            <a:ext cx="7498080" cy="822960"/>
          </a:xfrm>
          <a:prstGeom prst="rect">
            <a:avLst/>
          </a:prstGeom>
          <a:noFill/>
          <a:ln/>
        </p:spPr>
        <p:txBody>
          <a:bodyPr wrap="square" rtlCol="0" anchor="ctr"/>
          <a:lstStyle/>
          <a:p>
            <a:pPr marL="0" indent="0">
              <a:buNone/>
            </a:pPr>
            <a:r>
              <a:rPr lang="en-US" sz="1300" dirty="0">
                <a:solidFill>
                  <a:srgbClr val="000000"/>
                </a:solidFill>
                <a:latin typeface="Calibri" pitchFamily="34" charset="0"/>
                <a:ea typeface="Calibri" pitchFamily="34" charset="-122"/>
                <a:cs typeface="Calibri" pitchFamily="34" charset="-120"/>
              </a:rPr>
              <a:t>Male patients outnumber female patients in both years. On-time attendance worsened in 2024, with 60.5% of patients experiencing delays — up from 58.0% in 2023.</a:t>
            </a:r>
            <a:endParaRPr lang="en-US" sz="1300" dirty="0"/>
          </a:p>
        </p:txBody>
      </p:sp>
      <p:graphicFrame>
        <p:nvGraphicFramePr>
          <p:cNvPr id="9" name="Chart 0"/>
          <p:cNvGraphicFramePr/>
          <p:nvPr/>
        </p:nvGraphicFramePr>
        <p:xfrm>
          <a:off x="4343400" y="1188720"/>
          <a:ext cx="3383280" cy="29260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1"/>
          <p:cNvGraphicFramePr/>
          <p:nvPr/>
        </p:nvGraphicFramePr>
        <p:xfrm>
          <a:off x="7955280" y="1188720"/>
          <a:ext cx="338328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7"/>
          <p:cNvSpPr/>
          <p:nvPr/>
        </p:nvSpPr>
        <p:spPr>
          <a:xfrm>
            <a:off x="4343400" y="4343400"/>
            <a:ext cx="7498080" cy="32004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2023 — On Time: 1822 (42.0%)   Delayed: 2516 (58.0%)</a:t>
            </a:r>
            <a:endParaRPr lang="en-US" sz="1200" dirty="0"/>
          </a:p>
        </p:txBody>
      </p:sp>
      <p:sp>
        <p:nvSpPr>
          <p:cNvPr id="12" name="Shape 8"/>
          <p:cNvSpPr/>
          <p:nvPr/>
        </p:nvSpPr>
        <p:spPr>
          <a:xfrm>
            <a:off x="4343400" y="4690872"/>
            <a:ext cx="7498080" cy="347472"/>
          </a:xfrm>
          <a:prstGeom prst="rect">
            <a:avLst/>
          </a:prstGeom>
          <a:solidFill>
            <a:srgbClr val="FFFFFF"/>
          </a:solidFill>
          <a:ln w="12700">
            <a:solidFill>
              <a:srgbClr val="FFFFFF"/>
            </a:solidFill>
            <a:prstDash val="solid"/>
          </a:ln>
        </p:spPr>
      </p:sp>
      <p:sp>
        <p:nvSpPr>
          <p:cNvPr id="13" name="Shape 9"/>
          <p:cNvSpPr/>
          <p:nvPr/>
        </p:nvSpPr>
        <p:spPr>
          <a:xfrm>
            <a:off x="4343400" y="4690872"/>
            <a:ext cx="3149263" cy="347472"/>
          </a:xfrm>
          <a:prstGeom prst="rect">
            <a:avLst/>
          </a:prstGeom>
          <a:solidFill>
            <a:srgbClr val="FFFFFF"/>
          </a:solidFill>
          <a:ln w="12700">
            <a:solidFill>
              <a:srgbClr val="FFFFFF"/>
            </a:solidFill>
            <a:prstDash val="solid"/>
          </a:ln>
        </p:spPr>
      </p:sp>
      <p:sp>
        <p:nvSpPr>
          <p:cNvPr id="14" name="Shape 10"/>
          <p:cNvSpPr/>
          <p:nvPr/>
        </p:nvSpPr>
        <p:spPr>
          <a:xfrm>
            <a:off x="7492663" y="4690872"/>
            <a:ext cx="4348817" cy="347472"/>
          </a:xfrm>
          <a:prstGeom prst="rect">
            <a:avLst/>
          </a:prstGeom>
          <a:solidFill>
            <a:srgbClr val="FFFFFF"/>
          </a:solidFill>
          <a:ln w="12700">
            <a:solidFill>
              <a:srgbClr val="FFFFFF"/>
            </a:solidFill>
            <a:prstDash val="solid"/>
          </a:ln>
        </p:spPr>
      </p:sp>
      <p:sp>
        <p:nvSpPr>
          <p:cNvPr id="15" name="Text 11"/>
          <p:cNvSpPr/>
          <p:nvPr/>
        </p:nvSpPr>
        <p:spPr>
          <a:xfrm>
            <a:off x="4389120" y="4700016"/>
            <a:ext cx="3200400" cy="320040"/>
          </a:xfrm>
          <a:prstGeom prst="rect">
            <a:avLst/>
          </a:prstGeom>
          <a:noFill/>
          <a:ln/>
        </p:spPr>
        <p:txBody>
          <a:bodyPr wrap="square" rtlCol="0" anchor="ctr"/>
          <a:lstStyle/>
          <a:p>
            <a:pPr marL="0" indent="0">
              <a:buNone/>
            </a:pPr>
            <a:r>
              <a:rPr lang="en-US" sz="1000" b="1" dirty="0">
                <a:solidFill>
                  <a:srgbClr val="000000"/>
                </a:solidFill>
              </a:rPr>
              <a:t>On Time 42.0%</a:t>
            </a:r>
            <a:endParaRPr lang="en-US" sz="1000" dirty="0"/>
          </a:p>
        </p:txBody>
      </p:sp>
      <p:sp>
        <p:nvSpPr>
          <p:cNvPr id="16" name="Text 12"/>
          <p:cNvSpPr/>
          <p:nvPr/>
        </p:nvSpPr>
        <p:spPr>
          <a:xfrm>
            <a:off x="7538383" y="4700016"/>
            <a:ext cx="3200400" cy="320040"/>
          </a:xfrm>
          <a:prstGeom prst="rect">
            <a:avLst/>
          </a:prstGeom>
          <a:noFill/>
          <a:ln/>
        </p:spPr>
        <p:txBody>
          <a:bodyPr wrap="square" rtlCol="0" anchor="ctr"/>
          <a:lstStyle/>
          <a:p>
            <a:pPr marL="0" indent="0">
              <a:buNone/>
            </a:pPr>
            <a:r>
              <a:rPr lang="en-US" sz="1000" b="1" dirty="0">
                <a:solidFill>
                  <a:srgbClr val="000000"/>
                </a:solidFill>
              </a:rPr>
              <a:t>Delay 58.0%</a:t>
            </a:r>
            <a:endParaRPr lang="en-US" sz="1000" dirty="0"/>
          </a:p>
        </p:txBody>
      </p:sp>
      <p:sp>
        <p:nvSpPr>
          <p:cNvPr id="17" name="Text 13"/>
          <p:cNvSpPr/>
          <p:nvPr/>
        </p:nvSpPr>
        <p:spPr>
          <a:xfrm>
            <a:off x="4343400" y="5349240"/>
            <a:ext cx="7498080" cy="32004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2024 — On Time: 1927 (39.5%)   Delayed: 2951 (60.5%)</a:t>
            </a:r>
            <a:endParaRPr lang="en-US" sz="1200" dirty="0"/>
          </a:p>
        </p:txBody>
      </p:sp>
      <p:sp>
        <p:nvSpPr>
          <p:cNvPr id="18" name="Shape 14"/>
          <p:cNvSpPr/>
          <p:nvPr/>
        </p:nvSpPr>
        <p:spPr>
          <a:xfrm>
            <a:off x="4343400" y="5696712"/>
            <a:ext cx="7498080" cy="347472"/>
          </a:xfrm>
          <a:prstGeom prst="rect">
            <a:avLst/>
          </a:prstGeom>
          <a:solidFill>
            <a:srgbClr val="FFFFFF"/>
          </a:solidFill>
          <a:ln w="12700">
            <a:solidFill>
              <a:srgbClr val="FFFFFF"/>
            </a:solidFill>
            <a:prstDash val="solid"/>
          </a:ln>
        </p:spPr>
      </p:sp>
      <p:sp>
        <p:nvSpPr>
          <p:cNvPr id="19" name="Shape 15"/>
          <p:cNvSpPr/>
          <p:nvPr/>
        </p:nvSpPr>
        <p:spPr>
          <a:xfrm>
            <a:off x="4343400" y="5696712"/>
            <a:ext cx="2962034" cy="347472"/>
          </a:xfrm>
          <a:prstGeom prst="rect">
            <a:avLst/>
          </a:prstGeom>
          <a:solidFill>
            <a:srgbClr val="FFFFFF"/>
          </a:solidFill>
          <a:ln w="12700">
            <a:solidFill>
              <a:srgbClr val="FFFFFF"/>
            </a:solidFill>
            <a:prstDash val="solid"/>
          </a:ln>
        </p:spPr>
      </p:sp>
      <p:sp>
        <p:nvSpPr>
          <p:cNvPr id="20" name="Shape 16"/>
          <p:cNvSpPr/>
          <p:nvPr/>
        </p:nvSpPr>
        <p:spPr>
          <a:xfrm>
            <a:off x="7305434" y="5696712"/>
            <a:ext cx="4536046" cy="347472"/>
          </a:xfrm>
          <a:prstGeom prst="rect">
            <a:avLst/>
          </a:prstGeom>
          <a:solidFill>
            <a:srgbClr val="FFFFFF"/>
          </a:solidFill>
          <a:ln w="12700">
            <a:solidFill>
              <a:srgbClr val="FFFFFF"/>
            </a:solidFill>
            <a:prstDash val="solid"/>
          </a:ln>
        </p:spPr>
      </p:sp>
      <p:sp>
        <p:nvSpPr>
          <p:cNvPr id="21" name="Text 17"/>
          <p:cNvSpPr/>
          <p:nvPr/>
        </p:nvSpPr>
        <p:spPr>
          <a:xfrm>
            <a:off x="4389120" y="5705856"/>
            <a:ext cx="3200400" cy="320040"/>
          </a:xfrm>
          <a:prstGeom prst="rect">
            <a:avLst/>
          </a:prstGeom>
          <a:noFill/>
          <a:ln/>
        </p:spPr>
        <p:txBody>
          <a:bodyPr wrap="square" rtlCol="0" anchor="ctr"/>
          <a:lstStyle/>
          <a:p>
            <a:pPr marL="0" indent="0">
              <a:buNone/>
            </a:pPr>
            <a:r>
              <a:rPr lang="en-US" sz="1000" b="1" dirty="0">
                <a:solidFill>
                  <a:srgbClr val="000000"/>
                </a:solidFill>
              </a:rPr>
              <a:t>On Time 39.5%</a:t>
            </a:r>
            <a:endParaRPr lang="en-US" sz="1000" dirty="0"/>
          </a:p>
        </p:txBody>
      </p:sp>
      <p:sp>
        <p:nvSpPr>
          <p:cNvPr id="22" name="Text 18"/>
          <p:cNvSpPr/>
          <p:nvPr/>
        </p:nvSpPr>
        <p:spPr>
          <a:xfrm>
            <a:off x="7351154" y="5705856"/>
            <a:ext cx="3200400" cy="320040"/>
          </a:xfrm>
          <a:prstGeom prst="rect">
            <a:avLst/>
          </a:prstGeom>
          <a:noFill/>
          <a:ln/>
        </p:spPr>
        <p:txBody>
          <a:bodyPr wrap="square" rtlCol="0" anchor="ctr"/>
          <a:lstStyle/>
          <a:p>
            <a:pPr marL="0" indent="0">
              <a:buNone/>
            </a:pPr>
            <a:r>
              <a:rPr lang="en-US" sz="1000" b="1" dirty="0">
                <a:solidFill>
                  <a:srgbClr val="000000"/>
                </a:solidFill>
              </a:rPr>
              <a:t>Delay 60.5%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7CBAC"/>
          </a:solidFill>
          <a:ln w="12700">
            <a:solidFill>
              <a:srgbClr val="F7CBAC"/>
            </a:solidFill>
            <a:prstDash val="solid"/>
          </a:ln>
        </p:spPr>
      </p:sp>
      <p:sp>
        <p:nvSpPr>
          <p:cNvPr id="3" name="Shape 1"/>
          <p:cNvSpPr/>
          <p:nvPr/>
        </p:nvSpPr>
        <p:spPr>
          <a:xfrm>
            <a:off x="0" y="0"/>
            <a:ext cx="4114800" cy="2286000"/>
          </a:xfrm>
          <a:prstGeom prst="rect">
            <a:avLst/>
          </a:prstGeom>
          <a:solidFill>
            <a:srgbClr val="F7CBAC">
              <a:alpha val="80000"/>
            </a:srgbClr>
          </a:solidFill>
          <a:ln w="12700">
            <a:solidFill>
              <a:srgbClr val="F7CBAC">
                <a:alpha val="80000"/>
              </a:srgbClr>
            </a:solidFill>
            <a:prstDash val="solid"/>
          </a:ln>
        </p:spPr>
      </p:sp>
      <p:sp>
        <p:nvSpPr>
          <p:cNvPr id="4" name="Shape 2"/>
          <p:cNvSpPr/>
          <p:nvPr/>
        </p:nvSpPr>
        <p:spPr>
          <a:xfrm>
            <a:off x="4114800" y="0"/>
            <a:ext cx="8046720" cy="6858000"/>
          </a:xfrm>
          <a:prstGeom prst="rect">
            <a:avLst/>
          </a:prstGeom>
          <a:solidFill>
            <a:srgbClr val="FFFFFF"/>
          </a:solidFill>
          <a:ln w="12700">
            <a:solidFill>
              <a:srgbClr val="FFFFFF"/>
            </a:solidFill>
            <a:prstDash val="solid"/>
          </a:ln>
        </p:spPr>
      </p:sp>
      <p:sp>
        <p:nvSpPr>
          <p:cNvPr id="5" name="Text 3"/>
          <p:cNvSpPr/>
          <p:nvPr/>
        </p:nvSpPr>
        <p:spPr>
          <a:xfrm>
            <a:off x="274320" y="292608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Key</a:t>
            </a:r>
            <a:endParaRPr lang="en-US" sz="2800" dirty="0"/>
          </a:p>
        </p:txBody>
      </p:sp>
      <p:sp>
        <p:nvSpPr>
          <p:cNvPr id="6" name="Text 4"/>
          <p:cNvSpPr/>
          <p:nvPr/>
        </p:nvSpPr>
        <p:spPr>
          <a:xfrm>
            <a:off x="274320" y="352044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Insights</a:t>
            </a:r>
            <a:endParaRPr lang="en-US" sz="2800" dirty="0"/>
          </a:p>
        </p:txBody>
      </p:sp>
      <p:sp>
        <p:nvSpPr>
          <p:cNvPr id="7" name="Text 5"/>
          <p:cNvSpPr/>
          <p:nvPr/>
        </p:nvSpPr>
        <p:spPr>
          <a:xfrm>
            <a:off x="182880" y="4434840"/>
            <a:ext cx="3657600" cy="640080"/>
          </a:xfrm>
          <a:prstGeom prst="rect">
            <a:avLst/>
          </a:prstGeom>
          <a:noFill/>
          <a:ln/>
        </p:spPr>
        <p:txBody>
          <a:bodyPr wrap="square" rtlCol="0" anchor="ctr"/>
          <a:lstStyle/>
          <a:p>
            <a:pPr marL="0" indent="0" algn="ctr">
              <a:buNone/>
            </a:pPr>
            <a:r>
              <a:rPr lang="en-US" sz="1300" dirty="0">
                <a:solidFill>
                  <a:srgbClr val="000000"/>
                </a:solidFill>
                <a:latin typeface="Calibri" pitchFamily="34" charset="0"/>
                <a:ea typeface="Calibri" pitchFamily="34" charset="-122"/>
                <a:cs typeface="Calibri" pitchFamily="34" charset="-120"/>
              </a:rPr>
              <a:t>Age Group</a:t>
            </a:r>
            <a:endParaRPr lang="en-US" sz="1300" dirty="0"/>
          </a:p>
          <a:p>
            <a:pPr marL="0" indent="0" algn="ctr">
              <a:buNone/>
            </a:pPr>
            <a:r>
              <a:rPr lang="en-US" sz="1300" dirty="0">
                <a:solidFill>
                  <a:srgbClr val="000000"/>
                </a:solidFill>
                <a:latin typeface="Calibri" pitchFamily="34" charset="0"/>
                <a:ea typeface="Calibri" pitchFamily="34" charset="-122"/>
                <a:cs typeface="Calibri" pitchFamily="34" charset="-120"/>
              </a:rPr>
              <a:t>Distribution</a:t>
            </a:r>
            <a:endParaRPr lang="en-US" sz="1300" dirty="0"/>
          </a:p>
        </p:txBody>
      </p:sp>
      <p:sp>
        <p:nvSpPr>
          <p:cNvPr id="8" name="Text 6"/>
          <p:cNvSpPr/>
          <p:nvPr/>
        </p:nvSpPr>
        <p:spPr>
          <a:xfrm>
            <a:off x="4343400" y="228600"/>
            <a:ext cx="7498080" cy="822960"/>
          </a:xfrm>
          <a:prstGeom prst="rect">
            <a:avLst/>
          </a:prstGeom>
          <a:noFill/>
          <a:ln/>
        </p:spPr>
        <p:txBody>
          <a:bodyPr wrap="square" rtlCol="0" anchor="ctr"/>
          <a:lstStyle/>
          <a:p>
            <a:pPr marL="0" indent="0">
              <a:buNone/>
            </a:pPr>
            <a:r>
              <a:rPr lang="en-US" sz="1300" dirty="0">
                <a:solidFill>
                  <a:srgbClr val="000000"/>
                </a:solidFill>
                <a:latin typeface="Calibri" pitchFamily="34" charset="0"/>
                <a:ea typeface="Calibri" pitchFamily="34" charset="-122"/>
                <a:cs typeface="Calibri" pitchFamily="34" charset="-120"/>
              </a:rPr>
              <a:t>Patient volume across all age groups increased in 2024 vs 2023. The 30–39 age group is the largest in 2023 (578), while 20–29 leads in 2024 (632). Notably, the 0–09 group grew significantly from 482 to 574.</a:t>
            </a:r>
            <a:endParaRPr lang="en-US" sz="1300" dirty="0"/>
          </a:p>
        </p:txBody>
      </p:sp>
      <p:graphicFrame>
        <p:nvGraphicFramePr>
          <p:cNvPr id="9" name="Chart 0"/>
          <p:cNvGraphicFramePr/>
          <p:nvPr/>
        </p:nvGraphicFramePr>
        <p:xfrm>
          <a:off x="4343400" y="1097280"/>
          <a:ext cx="7498080" cy="54406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7CBAC"/>
          </a:solidFill>
          <a:ln w="12700">
            <a:solidFill>
              <a:srgbClr val="F7CBAC"/>
            </a:solidFill>
            <a:prstDash val="solid"/>
          </a:ln>
        </p:spPr>
      </p:sp>
      <p:sp>
        <p:nvSpPr>
          <p:cNvPr id="3" name="Shape 1"/>
          <p:cNvSpPr/>
          <p:nvPr/>
        </p:nvSpPr>
        <p:spPr>
          <a:xfrm>
            <a:off x="0" y="0"/>
            <a:ext cx="4114800" cy="2286000"/>
          </a:xfrm>
          <a:prstGeom prst="rect">
            <a:avLst/>
          </a:prstGeom>
          <a:solidFill>
            <a:srgbClr val="F7CBAC">
              <a:alpha val="80000"/>
            </a:srgbClr>
          </a:solidFill>
          <a:ln w="12700">
            <a:solidFill>
              <a:srgbClr val="F7CBAC">
                <a:alpha val="80000"/>
              </a:srgbClr>
            </a:solidFill>
            <a:prstDash val="solid"/>
          </a:ln>
        </p:spPr>
      </p:sp>
      <p:sp>
        <p:nvSpPr>
          <p:cNvPr id="4" name="Shape 2"/>
          <p:cNvSpPr/>
          <p:nvPr/>
        </p:nvSpPr>
        <p:spPr>
          <a:xfrm>
            <a:off x="4114800" y="0"/>
            <a:ext cx="8046720" cy="6858000"/>
          </a:xfrm>
          <a:prstGeom prst="rect">
            <a:avLst/>
          </a:prstGeom>
          <a:solidFill>
            <a:srgbClr val="FFFFFF"/>
          </a:solidFill>
          <a:ln w="12700">
            <a:solidFill>
              <a:srgbClr val="FFFFFF"/>
            </a:solidFill>
            <a:prstDash val="solid"/>
          </a:ln>
        </p:spPr>
      </p:sp>
      <p:sp>
        <p:nvSpPr>
          <p:cNvPr id="5" name="Text 3"/>
          <p:cNvSpPr/>
          <p:nvPr/>
        </p:nvSpPr>
        <p:spPr>
          <a:xfrm>
            <a:off x="274320" y="292608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Key</a:t>
            </a:r>
            <a:endParaRPr lang="en-US" sz="2800" dirty="0"/>
          </a:p>
        </p:txBody>
      </p:sp>
      <p:sp>
        <p:nvSpPr>
          <p:cNvPr id="6" name="Text 4"/>
          <p:cNvSpPr/>
          <p:nvPr/>
        </p:nvSpPr>
        <p:spPr>
          <a:xfrm>
            <a:off x="274320" y="352044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Insights</a:t>
            </a:r>
            <a:endParaRPr lang="en-US" sz="2800" dirty="0"/>
          </a:p>
        </p:txBody>
      </p:sp>
      <p:sp>
        <p:nvSpPr>
          <p:cNvPr id="7" name="Text 5"/>
          <p:cNvSpPr/>
          <p:nvPr/>
        </p:nvSpPr>
        <p:spPr>
          <a:xfrm>
            <a:off x="182880" y="4434840"/>
            <a:ext cx="3657600" cy="640080"/>
          </a:xfrm>
          <a:prstGeom prst="rect">
            <a:avLst/>
          </a:prstGeom>
          <a:noFill/>
          <a:ln/>
        </p:spPr>
        <p:txBody>
          <a:bodyPr wrap="square" rtlCol="0" anchor="ctr"/>
          <a:lstStyle/>
          <a:p>
            <a:pPr marL="0" indent="0" algn="ctr">
              <a:buNone/>
            </a:pPr>
            <a:r>
              <a:rPr lang="en-US" sz="1300" dirty="0">
                <a:solidFill>
                  <a:srgbClr val="000000"/>
                </a:solidFill>
                <a:latin typeface="Calibri" pitchFamily="34" charset="0"/>
                <a:ea typeface="Calibri" pitchFamily="34" charset="-122"/>
                <a:cs typeface="Calibri" pitchFamily="34" charset="-120"/>
              </a:rPr>
              <a:t>Department</a:t>
            </a:r>
            <a:endParaRPr lang="en-US" sz="1300" dirty="0"/>
          </a:p>
          <a:p>
            <a:pPr marL="0" indent="0" algn="ctr">
              <a:buNone/>
            </a:pPr>
            <a:r>
              <a:rPr lang="en-US" sz="1300" dirty="0">
                <a:solidFill>
                  <a:srgbClr val="000000"/>
                </a:solidFill>
                <a:latin typeface="Calibri" pitchFamily="34" charset="0"/>
                <a:ea typeface="Calibri" pitchFamily="34" charset="-122"/>
                <a:cs typeface="Calibri" pitchFamily="34" charset="-120"/>
              </a:rPr>
              <a:t>Referral</a:t>
            </a:r>
            <a:endParaRPr lang="en-US" sz="1300" dirty="0"/>
          </a:p>
        </p:txBody>
      </p:sp>
      <p:sp>
        <p:nvSpPr>
          <p:cNvPr id="8" name="Text 6"/>
          <p:cNvSpPr/>
          <p:nvPr/>
        </p:nvSpPr>
        <p:spPr>
          <a:xfrm>
            <a:off x="4343400" y="228600"/>
            <a:ext cx="7498080" cy="822960"/>
          </a:xfrm>
          <a:prstGeom prst="rect">
            <a:avLst/>
          </a:prstGeom>
          <a:noFill/>
          <a:ln/>
        </p:spPr>
        <p:txBody>
          <a:bodyPr wrap="square" rtlCol="0" anchor="ctr"/>
          <a:lstStyle/>
          <a:p>
            <a:pPr marL="0" indent="0">
              <a:buNone/>
            </a:pPr>
            <a:r>
              <a:rPr lang="en-US" sz="1300" dirty="0">
                <a:solidFill>
                  <a:srgbClr val="000000"/>
                </a:solidFill>
                <a:latin typeface="Calibri" pitchFamily="34" charset="0"/>
                <a:ea typeface="Calibri" pitchFamily="34" charset="-122"/>
                <a:cs typeface="Calibri" pitchFamily="34" charset="-120"/>
              </a:rPr>
              <a:t>Walk-in patients (No referral) dominate both years. General Practice is the top referral department in both 2023 (874) and 2024 (966), followed by Orthopedics. The proportion of walk-in patients remained at ~59% across both years.</a:t>
            </a:r>
            <a:endParaRPr lang="en-US" sz="1300" dirty="0"/>
          </a:p>
        </p:txBody>
      </p:sp>
      <p:graphicFrame>
        <p:nvGraphicFramePr>
          <p:cNvPr id="9" name="Chart 0"/>
          <p:cNvGraphicFramePr/>
          <p:nvPr/>
        </p:nvGraphicFramePr>
        <p:xfrm>
          <a:off x="4343400" y="1097280"/>
          <a:ext cx="7498080" cy="54406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7CBAC"/>
          </a:solidFill>
          <a:ln w="12700">
            <a:solidFill>
              <a:srgbClr val="F7CBAC"/>
            </a:solidFill>
            <a:prstDash val="solid"/>
          </a:ln>
        </p:spPr>
      </p:sp>
      <p:sp>
        <p:nvSpPr>
          <p:cNvPr id="3" name="Shape 1"/>
          <p:cNvSpPr/>
          <p:nvPr/>
        </p:nvSpPr>
        <p:spPr>
          <a:xfrm>
            <a:off x="0" y="0"/>
            <a:ext cx="4114800" cy="2286000"/>
          </a:xfrm>
          <a:prstGeom prst="rect">
            <a:avLst/>
          </a:prstGeom>
          <a:solidFill>
            <a:srgbClr val="F7CBAC">
              <a:alpha val="80000"/>
            </a:srgbClr>
          </a:solidFill>
          <a:ln w="12700">
            <a:solidFill>
              <a:srgbClr val="F7CBAC">
                <a:alpha val="80000"/>
              </a:srgbClr>
            </a:solidFill>
            <a:prstDash val="solid"/>
          </a:ln>
        </p:spPr>
      </p:sp>
      <p:sp>
        <p:nvSpPr>
          <p:cNvPr id="4" name="Shape 2"/>
          <p:cNvSpPr/>
          <p:nvPr/>
        </p:nvSpPr>
        <p:spPr>
          <a:xfrm>
            <a:off x="4114800" y="0"/>
            <a:ext cx="8046720" cy="6858000"/>
          </a:xfrm>
          <a:prstGeom prst="rect">
            <a:avLst/>
          </a:prstGeom>
          <a:solidFill>
            <a:srgbClr val="FFFFFF"/>
          </a:solidFill>
          <a:ln w="12700">
            <a:solidFill>
              <a:srgbClr val="FFFFFF"/>
            </a:solidFill>
            <a:prstDash val="solid"/>
          </a:ln>
        </p:spPr>
      </p:sp>
      <p:sp>
        <p:nvSpPr>
          <p:cNvPr id="5" name="Text 3"/>
          <p:cNvSpPr/>
          <p:nvPr/>
        </p:nvSpPr>
        <p:spPr>
          <a:xfrm>
            <a:off x="274320" y="292608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Key</a:t>
            </a:r>
            <a:endParaRPr lang="en-US" sz="2800" dirty="0"/>
          </a:p>
        </p:txBody>
      </p:sp>
      <p:sp>
        <p:nvSpPr>
          <p:cNvPr id="6" name="Text 4"/>
          <p:cNvSpPr/>
          <p:nvPr/>
        </p:nvSpPr>
        <p:spPr>
          <a:xfrm>
            <a:off x="274320" y="352044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Insights</a:t>
            </a:r>
            <a:endParaRPr lang="en-US" sz="2800" dirty="0"/>
          </a:p>
        </p:txBody>
      </p:sp>
      <p:sp>
        <p:nvSpPr>
          <p:cNvPr id="7" name="Text 5"/>
          <p:cNvSpPr/>
          <p:nvPr/>
        </p:nvSpPr>
        <p:spPr>
          <a:xfrm>
            <a:off x="182880" y="4434840"/>
            <a:ext cx="3657600" cy="640080"/>
          </a:xfrm>
          <a:prstGeom prst="rect">
            <a:avLst/>
          </a:prstGeom>
          <a:noFill/>
          <a:ln/>
        </p:spPr>
        <p:txBody>
          <a:bodyPr wrap="square" rtlCol="0" anchor="ctr"/>
          <a:lstStyle/>
          <a:p>
            <a:pPr marL="0" indent="0" algn="ctr">
              <a:buNone/>
            </a:pPr>
            <a:r>
              <a:rPr lang="en-US" sz="1300" dirty="0">
                <a:solidFill>
                  <a:srgbClr val="000000"/>
                </a:solidFill>
                <a:latin typeface="Calibri" pitchFamily="34" charset="0"/>
                <a:ea typeface="Calibri" pitchFamily="34" charset="-122"/>
                <a:cs typeface="Calibri" pitchFamily="34" charset="-120"/>
              </a:rPr>
              <a:t>Admission</a:t>
            </a:r>
            <a:endParaRPr lang="en-US" sz="1300" dirty="0"/>
          </a:p>
          <a:p>
            <a:pPr marL="0" indent="0" algn="ctr">
              <a:buNone/>
            </a:pPr>
            <a:r>
              <a:rPr lang="en-US" sz="1300" dirty="0">
                <a:solidFill>
                  <a:srgbClr val="000000"/>
                </a:solidFill>
                <a:latin typeface="Calibri" pitchFamily="34" charset="0"/>
                <a:ea typeface="Calibri" pitchFamily="34" charset="-122"/>
                <a:cs typeface="Calibri" pitchFamily="34" charset="-120"/>
              </a:rPr>
              <a:t>Status</a:t>
            </a:r>
            <a:endParaRPr lang="en-US" sz="1300" dirty="0"/>
          </a:p>
        </p:txBody>
      </p:sp>
      <p:sp>
        <p:nvSpPr>
          <p:cNvPr id="8" name="Text 6"/>
          <p:cNvSpPr/>
          <p:nvPr/>
        </p:nvSpPr>
        <p:spPr>
          <a:xfrm>
            <a:off x="4343400" y="228600"/>
            <a:ext cx="7498080" cy="914400"/>
          </a:xfrm>
          <a:prstGeom prst="rect">
            <a:avLst/>
          </a:prstGeom>
          <a:noFill/>
          <a:ln/>
        </p:spPr>
        <p:txBody>
          <a:bodyPr wrap="square" rtlCol="0" anchor="ctr"/>
          <a:lstStyle/>
          <a:p>
            <a:pPr marL="0" indent="0">
              <a:buNone/>
            </a:pPr>
            <a:r>
              <a:rPr lang="en-US" sz="1300" dirty="0">
                <a:solidFill>
                  <a:srgbClr val="000000"/>
                </a:solidFill>
                <a:latin typeface="Calibri" pitchFamily="34" charset="0"/>
                <a:ea typeface="Calibri" pitchFamily="34" charset="-122"/>
                <a:cs typeface="Calibri" pitchFamily="34" charset="-120"/>
              </a:rPr>
              <a:t>Admission rates remained nearly balanced. In 2023, slightly more patients were NOT admitted (50.3%). By 2024, this flipped — 50.3% of patients were admitted. This subtle shift may indicate rising severity of ER cases or improved admission protocols.</a:t>
            </a:r>
            <a:endParaRPr lang="en-US" sz="1300" dirty="0"/>
          </a:p>
        </p:txBody>
      </p:sp>
      <p:graphicFrame>
        <p:nvGraphicFramePr>
          <p:cNvPr id="9" name="Chart 0"/>
          <p:cNvGraphicFramePr/>
          <p:nvPr/>
        </p:nvGraphicFramePr>
        <p:xfrm>
          <a:off x="4343400" y="1188720"/>
          <a:ext cx="3291840" cy="30175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1"/>
          <p:cNvGraphicFramePr/>
          <p:nvPr/>
        </p:nvGraphicFramePr>
        <p:xfrm>
          <a:off x="7909560" y="1188720"/>
          <a:ext cx="3291840" cy="3017520"/>
        </p:xfrm>
        <a:graphic>
          <a:graphicData uri="http://schemas.openxmlformats.org/drawingml/2006/chart">
            <c:chart xmlns:c="http://schemas.openxmlformats.org/drawingml/2006/chart" xmlns:r="http://schemas.openxmlformats.org/officeDocument/2006/relationships" r:id="rId4"/>
          </a:graphicData>
        </a:graphic>
      </p:graphicFrame>
      <p:sp>
        <p:nvSpPr>
          <p:cNvPr id="11" name="Shape 7"/>
          <p:cNvSpPr/>
          <p:nvPr/>
        </p:nvSpPr>
        <p:spPr>
          <a:xfrm>
            <a:off x="4343400" y="4434840"/>
            <a:ext cx="1783080" cy="1143000"/>
          </a:xfrm>
          <a:prstGeom prst="rect">
            <a:avLst/>
          </a:prstGeom>
          <a:solidFill>
            <a:srgbClr val="FFFFFF"/>
          </a:solidFill>
          <a:ln w="12700">
            <a:solidFill>
              <a:srgbClr val="FFFFFF"/>
            </a:solidFill>
            <a:prstDash val="solid"/>
          </a:ln>
        </p:spPr>
      </p:sp>
      <p:sp>
        <p:nvSpPr>
          <p:cNvPr id="12" name="Text 8"/>
          <p:cNvSpPr/>
          <p:nvPr/>
        </p:nvSpPr>
        <p:spPr>
          <a:xfrm>
            <a:off x="4343400" y="4498848"/>
            <a:ext cx="1783080" cy="502920"/>
          </a:xfrm>
          <a:prstGeom prst="rect">
            <a:avLst/>
          </a:prstGeom>
          <a:noFill/>
          <a:ln/>
        </p:spPr>
        <p:txBody>
          <a:bodyPr wrap="square" rtlCol="0" anchor="ctr"/>
          <a:lstStyle/>
          <a:p>
            <a:pPr marL="0" indent="0" algn="ctr">
              <a:buNone/>
            </a:pPr>
            <a:r>
              <a:rPr lang="en-US" sz="2200" b="1" dirty="0">
                <a:solidFill>
                  <a:srgbClr val="000000"/>
                </a:solidFill>
                <a:latin typeface="Calibri" pitchFamily="34" charset="0"/>
                <a:ea typeface="Calibri" pitchFamily="34" charset="-122"/>
                <a:cs typeface="Calibri" pitchFamily="34" charset="-120"/>
              </a:rPr>
              <a:t>2,157</a:t>
            </a:r>
            <a:endParaRPr lang="en-US" sz="2200" dirty="0"/>
          </a:p>
        </p:txBody>
      </p:sp>
      <p:sp>
        <p:nvSpPr>
          <p:cNvPr id="13" name="Text 9"/>
          <p:cNvSpPr/>
          <p:nvPr/>
        </p:nvSpPr>
        <p:spPr>
          <a:xfrm>
            <a:off x="4343400" y="4983480"/>
            <a:ext cx="1783080" cy="502920"/>
          </a:xfrm>
          <a:prstGeom prst="rect">
            <a:avLst/>
          </a:prstGeom>
          <a:noFill/>
          <a:ln/>
        </p:spPr>
        <p:txBody>
          <a:bodyPr wrap="square" rtlCol="0" anchor="ctr"/>
          <a:lstStyle/>
          <a:p>
            <a:pPr marL="0" indent="0" algn="ctr">
              <a:buNone/>
            </a:pPr>
            <a:r>
              <a:rPr lang="en-US" sz="950" dirty="0">
                <a:solidFill>
                  <a:srgbClr val="000000"/>
                </a:solidFill>
                <a:latin typeface="Calibri" pitchFamily="34" charset="0"/>
                <a:ea typeface="Calibri" pitchFamily="34" charset="-122"/>
                <a:cs typeface="Calibri" pitchFamily="34" charset="-120"/>
              </a:rPr>
              <a:t>Admitted 2023 (49.7%)</a:t>
            </a:r>
            <a:endParaRPr lang="en-US" sz="950" dirty="0"/>
          </a:p>
        </p:txBody>
      </p:sp>
      <p:sp>
        <p:nvSpPr>
          <p:cNvPr id="14" name="Shape 10"/>
          <p:cNvSpPr/>
          <p:nvPr/>
        </p:nvSpPr>
        <p:spPr>
          <a:xfrm>
            <a:off x="6245352" y="4434840"/>
            <a:ext cx="1783080" cy="1143000"/>
          </a:xfrm>
          <a:prstGeom prst="rect">
            <a:avLst/>
          </a:prstGeom>
          <a:solidFill>
            <a:srgbClr val="FFFFFF"/>
          </a:solidFill>
          <a:ln w="12700">
            <a:solidFill>
              <a:srgbClr val="FFFFFF"/>
            </a:solidFill>
            <a:prstDash val="solid"/>
          </a:ln>
        </p:spPr>
      </p:sp>
      <p:sp>
        <p:nvSpPr>
          <p:cNvPr id="15" name="Text 11"/>
          <p:cNvSpPr/>
          <p:nvPr/>
        </p:nvSpPr>
        <p:spPr>
          <a:xfrm>
            <a:off x="6245352" y="4498848"/>
            <a:ext cx="1783080" cy="502920"/>
          </a:xfrm>
          <a:prstGeom prst="rect">
            <a:avLst/>
          </a:prstGeom>
          <a:noFill/>
          <a:ln/>
        </p:spPr>
        <p:txBody>
          <a:bodyPr wrap="square" rtlCol="0" anchor="ctr"/>
          <a:lstStyle/>
          <a:p>
            <a:pPr marL="0" indent="0" algn="ctr">
              <a:buNone/>
            </a:pPr>
            <a:r>
              <a:rPr lang="en-US" sz="2200" b="1" dirty="0">
                <a:solidFill>
                  <a:srgbClr val="000000"/>
                </a:solidFill>
                <a:latin typeface="Calibri" pitchFamily="34" charset="0"/>
                <a:ea typeface="Calibri" pitchFamily="34" charset="-122"/>
                <a:cs typeface="Calibri" pitchFamily="34" charset="-120"/>
              </a:rPr>
              <a:t>2,181</a:t>
            </a:r>
            <a:endParaRPr lang="en-US" sz="2200" dirty="0"/>
          </a:p>
        </p:txBody>
      </p:sp>
      <p:sp>
        <p:nvSpPr>
          <p:cNvPr id="16" name="Text 12"/>
          <p:cNvSpPr/>
          <p:nvPr/>
        </p:nvSpPr>
        <p:spPr>
          <a:xfrm>
            <a:off x="6245352" y="4983480"/>
            <a:ext cx="1783080" cy="502920"/>
          </a:xfrm>
          <a:prstGeom prst="rect">
            <a:avLst/>
          </a:prstGeom>
          <a:noFill/>
          <a:ln/>
        </p:spPr>
        <p:txBody>
          <a:bodyPr wrap="square" rtlCol="0" anchor="ctr"/>
          <a:lstStyle/>
          <a:p>
            <a:pPr marL="0" indent="0" algn="ctr">
              <a:buNone/>
            </a:pPr>
            <a:r>
              <a:rPr lang="en-US" sz="950" dirty="0">
                <a:solidFill>
                  <a:srgbClr val="000000"/>
                </a:solidFill>
                <a:latin typeface="Calibri" pitchFamily="34" charset="0"/>
                <a:ea typeface="Calibri" pitchFamily="34" charset="-122"/>
                <a:cs typeface="Calibri" pitchFamily="34" charset="-120"/>
              </a:rPr>
              <a:t>Not Admitted 2023 (50.3%)</a:t>
            </a:r>
            <a:endParaRPr lang="en-US" sz="950" dirty="0"/>
          </a:p>
        </p:txBody>
      </p:sp>
      <p:sp>
        <p:nvSpPr>
          <p:cNvPr id="17" name="Shape 13"/>
          <p:cNvSpPr/>
          <p:nvPr/>
        </p:nvSpPr>
        <p:spPr>
          <a:xfrm>
            <a:off x="8147304" y="4434840"/>
            <a:ext cx="1783080" cy="1143000"/>
          </a:xfrm>
          <a:prstGeom prst="rect">
            <a:avLst/>
          </a:prstGeom>
          <a:solidFill>
            <a:srgbClr val="FFFFFF"/>
          </a:solidFill>
          <a:ln w="12700">
            <a:solidFill>
              <a:srgbClr val="FFFFFF"/>
            </a:solidFill>
            <a:prstDash val="solid"/>
          </a:ln>
        </p:spPr>
      </p:sp>
      <p:sp>
        <p:nvSpPr>
          <p:cNvPr id="18" name="Text 14"/>
          <p:cNvSpPr/>
          <p:nvPr/>
        </p:nvSpPr>
        <p:spPr>
          <a:xfrm>
            <a:off x="8147304" y="4498848"/>
            <a:ext cx="1783080" cy="502920"/>
          </a:xfrm>
          <a:prstGeom prst="rect">
            <a:avLst/>
          </a:prstGeom>
          <a:noFill/>
          <a:ln/>
        </p:spPr>
        <p:txBody>
          <a:bodyPr wrap="square" rtlCol="0" anchor="ctr"/>
          <a:lstStyle/>
          <a:p>
            <a:pPr marL="0" indent="0" algn="ctr">
              <a:buNone/>
            </a:pPr>
            <a:r>
              <a:rPr lang="en-US" sz="2200" b="1" dirty="0">
                <a:solidFill>
                  <a:srgbClr val="000000"/>
                </a:solidFill>
                <a:latin typeface="Calibri" pitchFamily="34" charset="0"/>
                <a:ea typeface="Calibri" pitchFamily="34" charset="-122"/>
                <a:cs typeface="Calibri" pitchFamily="34" charset="-120"/>
              </a:rPr>
              <a:t>2,455</a:t>
            </a:r>
            <a:endParaRPr lang="en-US" sz="2200" dirty="0"/>
          </a:p>
        </p:txBody>
      </p:sp>
      <p:sp>
        <p:nvSpPr>
          <p:cNvPr id="19" name="Text 15"/>
          <p:cNvSpPr/>
          <p:nvPr/>
        </p:nvSpPr>
        <p:spPr>
          <a:xfrm>
            <a:off x="8147304" y="4983480"/>
            <a:ext cx="1783080" cy="502920"/>
          </a:xfrm>
          <a:prstGeom prst="rect">
            <a:avLst/>
          </a:prstGeom>
          <a:noFill/>
          <a:ln/>
        </p:spPr>
        <p:txBody>
          <a:bodyPr wrap="square" rtlCol="0" anchor="ctr"/>
          <a:lstStyle/>
          <a:p>
            <a:pPr marL="0" indent="0" algn="ctr">
              <a:buNone/>
            </a:pPr>
            <a:r>
              <a:rPr lang="en-US" sz="950" dirty="0">
                <a:solidFill>
                  <a:srgbClr val="000000"/>
                </a:solidFill>
                <a:latin typeface="Calibri" pitchFamily="34" charset="0"/>
                <a:ea typeface="Calibri" pitchFamily="34" charset="-122"/>
                <a:cs typeface="Calibri" pitchFamily="34" charset="-120"/>
              </a:rPr>
              <a:t>Admitted 2024 (50.3%)</a:t>
            </a:r>
            <a:endParaRPr lang="en-US" sz="950" dirty="0"/>
          </a:p>
        </p:txBody>
      </p:sp>
      <p:sp>
        <p:nvSpPr>
          <p:cNvPr id="20" name="Shape 16"/>
          <p:cNvSpPr/>
          <p:nvPr/>
        </p:nvSpPr>
        <p:spPr>
          <a:xfrm>
            <a:off x="10049256" y="4434840"/>
            <a:ext cx="1783080" cy="1143000"/>
          </a:xfrm>
          <a:prstGeom prst="rect">
            <a:avLst/>
          </a:prstGeom>
          <a:solidFill>
            <a:srgbClr val="FFFFFF"/>
          </a:solidFill>
          <a:ln w="12700">
            <a:solidFill>
              <a:srgbClr val="FFFFFF"/>
            </a:solidFill>
            <a:prstDash val="solid"/>
          </a:ln>
        </p:spPr>
      </p:sp>
      <p:sp>
        <p:nvSpPr>
          <p:cNvPr id="21" name="Text 17"/>
          <p:cNvSpPr/>
          <p:nvPr/>
        </p:nvSpPr>
        <p:spPr>
          <a:xfrm>
            <a:off x="10049256" y="4498848"/>
            <a:ext cx="1783080" cy="502920"/>
          </a:xfrm>
          <a:prstGeom prst="rect">
            <a:avLst/>
          </a:prstGeom>
          <a:noFill/>
          <a:ln/>
        </p:spPr>
        <p:txBody>
          <a:bodyPr wrap="square" rtlCol="0" anchor="ctr"/>
          <a:lstStyle/>
          <a:p>
            <a:pPr marL="0" indent="0" algn="ctr">
              <a:buNone/>
            </a:pPr>
            <a:r>
              <a:rPr lang="en-US" sz="2200" b="1" dirty="0">
                <a:solidFill>
                  <a:srgbClr val="000000"/>
                </a:solidFill>
                <a:latin typeface="Calibri" pitchFamily="34" charset="0"/>
                <a:ea typeface="Calibri" pitchFamily="34" charset="-122"/>
                <a:cs typeface="Calibri" pitchFamily="34" charset="-120"/>
              </a:rPr>
              <a:t>2,423</a:t>
            </a:r>
            <a:endParaRPr lang="en-US" sz="2200" dirty="0"/>
          </a:p>
        </p:txBody>
      </p:sp>
      <p:sp>
        <p:nvSpPr>
          <p:cNvPr id="22" name="Text 18"/>
          <p:cNvSpPr/>
          <p:nvPr/>
        </p:nvSpPr>
        <p:spPr>
          <a:xfrm>
            <a:off x="10049256" y="4983480"/>
            <a:ext cx="1783080" cy="502920"/>
          </a:xfrm>
          <a:prstGeom prst="rect">
            <a:avLst/>
          </a:prstGeom>
          <a:noFill/>
          <a:ln/>
        </p:spPr>
        <p:txBody>
          <a:bodyPr wrap="square" rtlCol="0" anchor="ctr"/>
          <a:lstStyle/>
          <a:p>
            <a:pPr marL="0" indent="0" algn="ctr">
              <a:buNone/>
            </a:pPr>
            <a:r>
              <a:rPr lang="en-US" sz="950" dirty="0">
                <a:solidFill>
                  <a:srgbClr val="000000"/>
                </a:solidFill>
                <a:latin typeface="Calibri" pitchFamily="34" charset="0"/>
                <a:ea typeface="Calibri" pitchFamily="34" charset="-122"/>
                <a:cs typeface="Calibri" pitchFamily="34" charset="-120"/>
              </a:rPr>
              <a:t>Not Admitted 2024 (49.7%)</a:t>
            </a:r>
            <a:endParaRPr lang="en-US" sz="950" dirty="0"/>
          </a:p>
        </p:txBody>
      </p:sp>
      <p:sp>
        <p:nvSpPr>
          <p:cNvPr id="23" name="Text 19"/>
          <p:cNvSpPr/>
          <p:nvPr/>
        </p:nvSpPr>
        <p:spPr>
          <a:xfrm>
            <a:off x="4343400" y="5715000"/>
            <a:ext cx="7498080" cy="594360"/>
          </a:xfrm>
          <a:prstGeom prst="rect">
            <a:avLst/>
          </a:prstGeom>
          <a:noFill/>
          <a:ln/>
        </p:spPr>
        <p:txBody>
          <a:bodyPr wrap="square" rtlCol="0" anchor="ctr"/>
          <a:lstStyle/>
          <a:p>
            <a:pPr marL="0" indent="0">
              <a:buNone/>
            </a:pPr>
            <a:r>
              <a:rPr lang="en-US" sz="1100" i="1" dirty="0">
                <a:solidFill>
                  <a:srgbClr val="000000"/>
                </a:solidFill>
                <a:latin typeface="Calibri" pitchFamily="34" charset="0"/>
                <a:ea typeface="Calibri" pitchFamily="34" charset="-122"/>
                <a:cs typeface="Calibri" pitchFamily="34" charset="-120"/>
              </a:rPr>
              <a:t>Admission rates flipped between years: 2023 had more non-admissions, 2024 had more admissions — suggesting growing severity of ER cases.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7CBAC"/>
          </a:solidFill>
          <a:ln w="12700">
            <a:solidFill>
              <a:srgbClr val="F7CBAC"/>
            </a:solidFill>
            <a:prstDash val="solid"/>
          </a:ln>
        </p:spPr>
      </p:sp>
      <p:sp>
        <p:nvSpPr>
          <p:cNvPr id="3" name="Shape 1"/>
          <p:cNvSpPr/>
          <p:nvPr/>
        </p:nvSpPr>
        <p:spPr>
          <a:xfrm>
            <a:off x="0" y="0"/>
            <a:ext cx="4114800" cy="2286000"/>
          </a:xfrm>
          <a:prstGeom prst="rect">
            <a:avLst/>
          </a:prstGeom>
          <a:solidFill>
            <a:srgbClr val="F7CBAC">
              <a:alpha val="80000"/>
            </a:srgbClr>
          </a:solidFill>
          <a:ln w="12700">
            <a:solidFill>
              <a:srgbClr val="F7CBAC">
                <a:alpha val="80000"/>
              </a:srgbClr>
            </a:solidFill>
            <a:prstDash val="solid"/>
          </a:ln>
        </p:spPr>
      </p:sp>
      <p:sp>
        <p:nvSpPr>
          <p:cNvPr id="4" name="Shape 2"/>
          <p:cNvSpPr/>
          <p:nvPr/>
        </p:nvSpPr>
        <p:spPr>
          <a:xfrm>
            <a:off x="4114800" y="0"/>
            <a:ext cx="8046720" cy="6858000"/>
          </a:xfrm>
          <a:prstGeom prst="rect">
            <a:avLst/>
          </a:prstGeom>
          <a:solidFill>
            <a:srgbClr val="FFFFFF"/>
          </a:solidFill>
          <a:ln w="12700">
            <a:solidFill>
              <a:srgbClr val="FFFFFF"/>
            </a:solidFill>
            <a:prstDash val="solid"/>
          </a:ln>
        </p:spPr>
      </p:sp>
      <p:sp>
        <p:nvSpPr>
          <p:cNvPr id="5" name="Text 3"/>
          <p:cNvSpPr/>
          <p:nvPr/>
        </p:nvSpPr>
        <p:spPr>
          <a:xfrm>
            <a:off x="274320" y="292608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Key</a:t>
            </a:r>
            <a:endParaRPr lang="en-US" sz="2800" dirty="0"/>
          </a:p>
        </p:txBody>
      </p:sp>
      <p:sp>
        <p:nvSpPr>
          <p:cNvPr id="6" name="Text 4"/>
          <p:cNvSpPr/>
          <p:nvPr/>
        </p:nvSpPr>
        <p:spPr>
          <a:xfrm>
            <a:off x="274320" y="352044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Insights</a:t>
            </a:r>
            <a:endParaRPr lang="en-US" sz="2800" dirty="0"/>
          </a:p>
        </p:txBody>
      </p:sp>
      <p:sp>
        <p:nvSpPr>
          <p:cNvPr id="7" name="Text 5"/>
          <p:cNvSpPr/>
          <p:nvPr/>
        </p:nvSpPr>
        <p:spPr>
          <a:xfrm>
            <a:off x="182880" y="4434840"/>
            <a:ext cx="3657600" cy="640080"/>
          </a:xfrm>
          <a:prstGeom prst="rect">
            <a:avLst/>
          </a:prstGeom>
          <a:noFill/>
          <a:ln/>
        </p:spPr>
        <p:txBody>
          <a:bodyPr wrap="square" rtlCol="0" anchor="ctr"/>
          <a:lstStyle/>
          <a:p>
            <a:pPr marL="0" indent="0" algn="ctr">
              <a:buNone/>
            </a:pPr>
            <a:r>
              <a:rPr lang="en-US" sz="1300" dirty="0">
                <a:solidFill>
                  <a:srgbClr val="000000"/>
                </a:solidFill>
                <a:latin typeface="Calibri" pitchFamily="34" charset="0"/>
                <a:ea typeface="Calibri" pitchFamily="34" charset="-122"/>
                <a:cs typeface="Calibri" pitchFamily="34" charset="-120"/>
              </a:rPr>
              <a:t>Monthly</a:t>
            </a:r>
            <a:endParaRPr lang="en-US" sz="1300" dirty="0"/>
          </a:p>
          <a:p>
            <a:pPr marL="0" indent="0" algn="ctr">
              <a:buNone/>
            </a:pPr>
            <a:r>
              <a:rPr lang="en-US" sz="1300" dirty="0">
                <a:solidFill>
                  <a:srgbClr val="000000"/>
                </a:solidFill>
                <a:latin typeface="Calibri" pitchFamily="34" charset="0"/>
                <a:ea typeface="Calibri" pitchFamily="34" charset="-122"/>
                <a:cs typeface="Calibri" pitchFamily="34" charset="-120"/>
              </a:rPr>
              <a:t>Volume Trend</a:t>
            </a:r>
            <a:endParaRPr lang="en-US" sz="1300" dirty="0"/>
          </a:p>
        </p:txBody>
      </p:sp>
      <p:sp>
        <p:nvSpPr>
          <p:cNvPr id="8" name="Text 6"/>
          <p:cNvSpPr/>
          <p:nvPr/>
        </p:nvSpPr>
        <p:spPr>
          <a:xfrm>
            <a:off x="4343400" y="228600"/>
            <a:ext cx="7498080" cy="868680"/>
          </a:xfrm>
          <a:prstGeom prst="rect">
            <a:avLst/>
          </a:prstGeom>
          <a:noFill/>
          <a:ln/>
        </p:spPr>
        <p:txBody>
          <a:bodyPr wrap="square" rtlCol="0" anchor="ctr"/>
          <a:lstStyle/>
          <a:p>
            <a:pPr marL="0" indent="0">
              <a:buNone/>
            </a:pPr>
            <a:r>
              <a:rPr lang="en-US" sz="1300" dirty="0">
                <a:solidFill>
                  <a:srgbClr val="000000"/>
                </a:solidFill>
                <a:latin typeface="Calibri" pitchFamily="34" charset="0"/>
                <a:ea typeface="Calibri" pitchFamily="34" charset="-122"/>
                <a:cs typeface="Calibri" pitchFamily="34" charset="-120"/>
              </a:rPr>
              <a:t>2023 data covers April–December (9 months). 2024 covers January–October (10 months). August 2024 was the peak month with 530 patients. May is consistently high across both years (480 in 2023, 519 in 2024).</a:t>
            </a:r>
            <a:endParaRPr lang="en-US" sz="1300" dirty="0"/>
          </a:p>
        </p:txBody>
      </p:sp>
      <p:graphicFrame>
        <p:nvGraphicFramePr>
          <p:cNvPr id="9" name="Chart 0"/>
          <p:cNvGraphicFramePr/>
          <p:nvPr/>
        </p:nvGraphicFramePr>
        <p:xfrm>
          <a:off x="4343400" y="1188720"/>
          <a:ext cx="7498080" cy="53492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7CBAC"/>
          </a:solidFill>
          <a:ln w="12700">
            <a:solidFill>
              <a:srgbClr val="F7CBAC"/>
            </a:solidFill>
            <a:prstDash val="solid"/>
          </a:ln>
        </p:spPr>
      </p:sp>
      <p:sp>
        <p:nvSpPr>
          <p:cNvPr id="3" name="Shape 1"/>
          <p:cNvSpPr/>
          <p:nvPr/>
        </p:nvSpPr>
        <p:spPr>
          <a:xfrm>
            <a:off x="0" y="0"/>
            <a:ext cx="4114800" cy="2286000"/>
          </a:xfrm>
          <a:prstGeom prst="rect">
            <a:avLst/>
          </a:prstGeom>
          <a:solidFill>
            <a:srgbClr val="F7CBAC">
              <a:alpha val="80000"/>
            </a:srgbClr>
          </a:solidFill>
          <a:ln w="12700">
            <a:solidFill>
              <a:srgbClr val="F7CBAC">
                <a:alpha val="80000"/>
              </a:srgbClr>
            </a:solidFill>
            <a:prstDash val="solid"/>
          </a:ln>
        </p:spPr>
      </p:sp>
      <p:sp>
        <p:nvSpPr>
          <p:cNvPr id="4" name="Shape 2"/>
          <p:cNvSpPr/>
          <p:nvPr/>
        </p:nvSpPr>
        <p:spPr>
          <a:xfrm>
            <a:off x="4114800" y="0"/>
            <a:ext cx="8046720" cy="6858000"/>
          </a:xfrm>
          <a:prstGeom prst="rect">
            <a:avLst/>
          </a:prstGeom>
          <a:solidFill>
            <a:srgbClr val="FFFFFF"/>
          </a:solidFill>
          <a:ln w="12700">
            <a:solidFill>
              <a:srgbClr val="FFFFFF"/>
            </a:solidFill>
            <a:prstDash val="solid"/>
          </a:ln>
        </p:spPr>
      </p:sp>
      <p:sp>
        <p:nvSpPr>
          <p:cNvPr id="5" name="Text 3"/>
          <p:cNvSpPr/>
          <p:nvPr/>
        </p:nvSpPr>
        <p:spPr>
          <a:xfrm>
            <a:off x="274320" y="292608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Key</a:t>
            </a:r>
            <a:endParaRPr lang="en-US" sz="2800" dirty="0"/>
          </a:p>
        </p:txBody>
      </p:sp>
      <p:sp>
        <p:nvSpPr>
          <p:cNvPr id="6" name="Text 4"/>
          <p:cNvSpPr/>
          <p:nvPr/>
        </p:nvSpPr>
        <p:spPr>
          <a:xfrm>
            <a:off x="274320" y="352044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Insights</a:t>
            </a:r>
            <a:endParaRPr lang="en-US" sz="2800" dirty="0"/>
          </a:p>
        </p:txBody>
      </p:sp>
      <p:sp>
        <p:nvSpPr>
          <p:cNvPr id="7" name="Text 5"/>
          <p:cNvSpPr/>
          <p:nvPr/>
        </p:nvSpPr>
        <p:spPr>
          <a:xfrm>
            <a:off x="182880" y="4434840"/>
            <a:ext cx="3657600" cy="640080"/>
          </a:xfrm>
          <a:prstGeom prst="rect">
            <a:avLst/>
          </a:prstGeom>
          <a:noFill/>
          <a:ln/>
        </p:spPr>
        <p:txBody>
          <a:bodyPr wrap="square" rtlCol="0" anchor="ctr"/>
          <a:lstStyle/>
          <a:p>
            <a:pPr marL="0" indent="0" algn="ctr">
              <a:buNone/>
            </a:pPr>
            <a:r>
              <a:rPr lang="en-US" sz="1300" dirty="0">
                <a:solidFill>
                  <a:srgbClr val="000000"/>
                </a:solidFill>
                <a:latin typeface="Calibri" pitchFamily="34" charset="0"/>
                <a:ea typeface="Calibri" pitchFamily="34" charset="-122"/>
                <a:cs typeface="Calibri" pitchFamily="34" charset="-120"/>
              </a:rPr>
              <a:t>Patient Race</a:t>
            </a:r>
            <a:endParaRPr lang="en-US" sz="1300" dirty="0"/>
          </a:p>
          <a:p>
            <a:pPr marL="0" indent="0" algn="ctr">
              <a:buNone/>
            </a:pPr>
            <a:r>
              <a:rPr lang="en-US" sz="1300" dirty="0">
                <a:solidFill>
                  <a:srgbClr val="000000"/>
                </a:solidFill>
                <a:latin typeface="Calibri" pitchFamily="34" charset="0"/>
                <a:ea typeface="Calibri" pitchFamily="34" charset="-122"/>
                <a:cs typeface="Calibri" pitchFamily="34" charset="-120"/>
              </a:rPr>
              <a:t>Distribution</a:t>
            </a:r>
            <a:endParaRPr lang="en-US" sz="1300" dirty="0"/>
          </a:p>
        </p:txBody>
      </p:sp>
      <p:sp>
        <p:nvSpPr>
          <p:cNvPr id="8" name="Text 6"/>
          <p:cNvSpPr/>
          <p:nvPr/>
        </p:nvSpPr>
        <p:spPr>
          <a:xfrm>
            <a:off x="4343400" y="228600"/>
            <a:ext cx="7498080" cy="777240"/>
          </a:xfrm>
          <a:prstGeom prst="rect">
            <a:avLst/>
          </a:prstGeom>
          <a:noFill/>
          <a:ln/>
        </p:spPr>
        <p:txBody>
          <a:bodyPr wrap="square" rtlCol="0" anchor="ctr"/>
          <a:lstStyle/>
          <a:p>
            <a:pPr marL="0" indent="0">
              <a:buNone/>
            </a:pPr>
            <a:r>
              <a:rPr lang="en-US" sz="1300" dirty="0">
                <a:solidFill>
                  <a:srgbClr val="000000"/>
                </a:solidFill>
                <a:latin typeface="Calibri" pitchFamily="34" charset="0"/>
                <a:ea typeface="Calibri" pitchFamily="34" charset="-122"/>
                <a:cs typeface="Calibri" pitchFamily="34" charset="-120"/>
              </a:rPr>
              <a:t>White patients form the largest group in both years (1,225 in 2023; 1,346 in 2024). African American patients are second. All racial groups show increased volumes in 2024, reflecting overall patient growth.</a:t>
            </a:r>
            <a:endParaRPr lang="en-US" sz="1300" dirty="0"/>
          </a:p>
        </p:txBody>
      </p:sp>
      <p:graphicFrame>
        <p:nvGraphicFramePr>
          <p:cNvPr id="9" name="Chart 0"/>
          <p:cNvGraphicFramePr/>
          <p:nvPr/>
        </p:nvGraphicFramePr>
        <p:xfrm>
          <a:off x="4343400" y="1097280"/>
          <a:ext cx="7498080" cy="54406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7CBAC"/>
          </a:solidFill>
          <a:ln w="12700">
            <a:solidFill>
              <a:srgbClr val="F7CBAC"/>
            </a:solidFill>
            <a:prstDash val="solid"/>
          </a:ln>
        </p:spPr>
      </p:sp>
      <p:sp>
        <p:nvSpPr>
          <p:cNvPr id="3" name="Shape 1"/>
          <p:cNvSpPr/>
          <p:nvPr/>
        </p:nvSpPr>
        <p:spPr>
          <a:xfrm>
            <a:off x="0" y="0"/>
            <a:ext cx="4114800" cy="2286000"/>
          </a:xfrm>
          <a:prstGeom prst="rect">
            <a:avLst/>
          </a:prstGeom>
          <a:solidFill>
            <a:srgbClr val="F7CBAC">
              <a:alpha val="80000"/>
            </a:srgbClr>
          </a:solidFill>
          <a:ln w="12700">
            <a:solidFill>
              <a:srgbClr val="F7CBAC">
                <a:alpha val="80000"/>
              </a:srgbClr>
            </a:solidFill>
            <a:prstDash val="solid"/>
          </a:ln>
        </p:spPr>
      </p:sp>
      <p:sp>
        <p:nvSpPr>
          <p:cNvPr id="4" name="Shape 2"/>
          <p:cNvSpPr/>
          <p:nvPr/>
        </p:nvSpPr>
        <p:spPr>
          <a:xfrm>
            <a:off x="4114800" y="0"/>
            <a:ext cx="8046720" cy="6858000"/>
          </a:xfrm>
          <a:prstGeom prst="rect">
            <a:avLst/>
          </a:prstGeom>
          <a:solidFill>
            <a:srgbClr val="FFFFFF"/>
          </a:solidFill>
          <a:ln w="12700">
            <a:solidFill>
              <a:srgbClr val="FFFFFF"/>
            </a:solidFill>
            <a:prstDash val="solid"/>
          </a:ln>
        </p:spPr>
      </p:sp>
      <p:sp>
        <p:nvSpPr>
          <p:cNvPr id="5" name="Text 3"/>
          <p:cNvSpPr/>
          <p:nvPr/>
        </p:nvSpPr>
        <p:spPr>
          <a:xfrm>
            <a:off x="274320" y="246888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Future</a:t>
            </a:r>
            <a:endParaRPr lang="en-US" sz="2800" dirty="0"/>
          </a:p>
        </p:txBody>
      </p:sp>
      <p:sp>
        <p:nvSpPr>
          <p:cNvPr id="6" name="Text 4"/>
          <p:cNvSpPr/>
          <p:nvPr/>
        </p:nvSpPr>
        <p:spPr>
          <a:xfrm>
            <a:off x="274320" y="306324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Enhance-</a:t>
            </a:r>
            <a:endParaRPr lang="en-US" sz="2800" dirty="0"/>
          </a:p>
        </p:txBody>
      </p:sp>
      <p:sp>
        <p:nvSpPr>
          <p:cNvPr id="7" name="Text 5"/>
          <p:cNvSpPr/>
          <p:nvPr/>
        </p:nvSpPr>
        <p:spPr>
          <a:xfrm>
            <a:off x="274320" y="365760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ments</a:t>
            </a:r>
            <a:endParaRPr lang="en-US" sz="2800" dirty="0"/>
          </a:p>
        </p:txBody>
      </p:sp>
      <p:sp>
        <p:nvSpPr>
          <p:cNvPr id="8" name="Text 6"/>
          <p:cNvSpPr/>
          <p:nvPr/>
        </p:nvSpPr>
        <p:spPr>
          <a:xfrm>
            <a:off x="4343400" y="320040"/>
            <a:ext cx="7498080" cy="365760"/>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1. Real-Time Data Integration</a:t>
            </a:r>
            <a:endParaRPr lang="en-US" sz="1300" dirty="0"/>
          </a:p>
        </p:txBody>
      </p:sp>
      <p:sp>
        <p:nvSpPr>
          <p:cNvPr id="9" name="Text 7"/>
          <p:cNvSpPr/>
          <p:nvPr/>
        </p:nvSpPr>
        <p:spPr>
          <a:xfrm>
            <a:off x="4343400" y="667512"/>
            <a:ext cx="7498080" cy="34747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Connect live ER patient tracking systems for real-time dashboard updates and alerts.</a:t>
            </a:r>
            <a:endParaRPr lang="en-US" sz="1200" dirty="0"/>
          </a:p>
        </p:txBody>
      </p:sp>
      <p:sp>
        <p:nvSpPr>
          <p:cNvPr id="10" name="Text 8"/>
          <p:cNvSpPr/>
          <p:nvPr/>
        </p:nvSpPr>
        <p:spPr>
          <a:xfrm>
            <a:off x="4343400" y="1344168"/>
            <a:ext cx="7498080" cy="365760"/>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2. Predictive Analytics</a:t>
            </a:r>
            <a:endParaRPr lang="en-US" sz="1300" dirty="0"/>
          </a:p>
        </p:txBody>
      </p:sp>
      <p:sp>
        <p:nvSpPr>
          <p:cNvPr id="11" name="Text 9"/>
          <p:cNvSpPr/>
          <p:nvPr/>
        </p:nvSpPr>
        <p:spPr>
          <a:xfrm>
            <a:off x="4343400" y="1691640"/>
            <a:ext cx="7498080" cy="34747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Build ML models to forecast patient volume, wait time spikes, and admission likelihood.</a:t>
            </a:r>
            <a:endParaRPr lang="en-US" sz="1200" dirty="0"/>
          </a:p>
        </p:txBody>
      </p:sp>
      <p:sp>
        <p:nvSpPr>
          <p:cNvPr id="12" name="Text 10"/>
          <p:cNvSpPr/>
          <p:nvPr/>
        </p:nvSpPr>
        <p:spPr>
          <a:xfrm>
            <a:off x="4343400" y="2368296"/>
            <a:ext cx="7498080" cy="365760"/>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3. Staffing Optimization Tool</a:t>
            </a:r>
            <a:endParaRPr lang="en-US" sz="1300" dirty="0"/>
          </a:p>
        </p:txBody>
      </p:sp>
      <p:sp>
        <p:nvSpPr>
          <p:cNvPr id="13" name="Text 11"/>
          <p:cNvSpPr/>
          <p:nvPr/>
        </p:nvSpPr>
        <p:spPr>
          <a:xfrm>
            <a:off x="4343400" y="2715768"/>
            <a:ext cx="7498080" cy="34747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Suggest optimal nurse/doctor staffing levels based on historical volume patterns.</a:t>
            </a:r>
            <a:endParaRPr lang="en-US" sz="1200" dirty="0"/>
          </a:p>
        </p:txBody>
      </p:sp>
      <p:sp>
        <p:nvSpPr>
          <p:cNvPr id="14" name="Text 12"/>
          <p:cNvSpPr/>
          <p:nvPr/>
        </p:nvSpPr>
        <p:spPr>
          <a:xfrm>
            <a:off x="4343400" y="3392424"/>
            <a:ext cx="7498080" cy="365760"/>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4. Patient Risk Scoring</a:t>
            </a:r>
            <a:endParaRPr lang="en-US" sz="1300" dirty="0"/>
          </a:p>
        </p:txBody>
      </p:sp>
      <p:sp>
        <p:nvSpPr>
          <p:cNvPr id="15" name="Text 13"/>
          <p:cNvSpPr/>
          <p:nvPr/>
        </p:nvSpPr>
        <p:spPr>
          <a:xfrm>
            <a:off x="4343400" y="3739896"/>
            <a:ext cx="7498080" cy="34747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Identify high-risk patients based on age, wait time, and past visit history.</a:t>
            </a:r>
            <a:endParaRPr lang="en-US" sz="1200" dirty="0"/>
          </a:p>
        </p:txBody>
      </p:sp>
      <p:sp>
        <p:nvSpPr>
          <p:cNvPr id="16" name="Text 14"/>
          <p:cNvSpPr/>
          <p:nvPr/>
        </p:nvSpPr>
        <p:spPr>
          <a:xfrm>
            <a:off x="4343400" y="4416552"/>
            <a:ext cx="7498080" cy="365760"/>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5. Department Performance Tracker</a:t>
            </a:r>
            <a:endParaRPr lang="en-US" sz="1300" dirty="0"/>
          </a:p>
        </p:txBody>
      </p:sp>
      <p:sp>
        <p:nvSpPr>
          <p:cNvPr id="17" name="Text 15"/>
          <p:cNvSpPr/>
          <p:nvPr/>
        </p:nvSpPr>
        <p:spPr>
          <a:xfrm>
            <a:off x="4343400" y="4764024"/>
            <a:ext cx="7498080" cy="34747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Monitor KPIs per department — referral rates, bed occupancy, and turnaround times.</a:t>
            </a:r>
            <a:endParaRPr lang="en-US" sz="1200" dirty="0"/>
          </a:p>
        </p:txBody>
      </p:sp>
      <p:sp>
        <p:nvSpPr>
          <p:cNvPr id="18" name="Text 16"/>
          <p:cNvSpPr/>
          <p:nvPr/>
        </p:nvSpPr>
        <p:spPr>
          <a:xfrm>
            <a:off x="4343400" y="5440680"/>
            <a:ext cx="7498080" cy="365760"/>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6. Automated Alerts</a:t>
            </a:r>
            <a:endParaRPr lang="en-US" sz="1300" dirty="0"/>
          </a:p>
        </p:txBody>
      </p:sp>
      <p:sp>
        <p:nvSpPr>
          <p:cNvPr id="19" name="Text 17"/>
          <p:cNvSpPr/>
          <p:nvPr/>
        </p:nvSpPr>
        <p:spPr>
          <a:xfrm>
            <a:off x="4343400" y="5788152"/>
            <a:ext cx="7498080" cy="347472"/>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Trigger notifications for threshold breaches — e.g., avg wait &gt; 45 min or satisfaction &lt; 4.</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7CBAC"/>
          </a:solidFill>
          <a:ln w="12700">
            <a:solidFill>
              <a:srgbClr val="F7CBAC"/>
            </a:solidFill>
            <a:prstDash val="solid"/>
          </a:ln>
        </p:spPr>
      </p:sp>
      <p:sp>
        <p:nvSpPr>
          <p:cNvPr id="3" name="Shape 1"/>
          <p:cNvSpPr/>
          <p:nvPr/>
        </p:nvSpPr>
        <p:spPr>
          <a:xfrm>
            <a:off x="0" y="0"/>
            <a:ext cx="4114800" cy="2286000"/>
          </a:xfrm>
          <a:prstGeom prst="rect">
            <a:avLst/>
          </a:prstGeom>
          <a:solidFill>
            <a:srgbClr val="F7CBAC">
              <a:alpha val="80000"/>
            </a:srgbClr>
          </a:solidFill>
          <a:ln w="12700">
            <a:solidFill>
              <a:srgbClr val="F7CBAC">
                <a:alpha val="80000"/>
              </a:srgbClr>
            </a:solidFill>
            <a:prstDash val="solid"/>
          </a:ln>
        </p:spPr>
      </p:sp>
      <p:sp>
        <p:nvSpPr>
          <p:cNvPr id="4" name="Shape 2"/>
          <p:cNvSpPr/>
          <p:nvPr/>
        </p:nvSpPr>
        <p:spPr>
          <a:xfrm>
            <a:off x="4114800" y="0"/>
            <a:ext cx="8046720" cy="6858000"/>
          </a:xfrm>
          <a:prstGeom prst="rect">
            <a:avLst/>
          </a:prstGeom>
          <a:solidFill>
            <a:srgbClr val="FFFFFF"/>
          </a:solidFill>
          <a:ln w="12700">
            <a:solidFill>
              <a:srgbClr val="FFFFFF"/>
            </a:solidFill>
            <a:prstDash val="solid"/>
          </a:ln>
        </p:spPr>
      </p:sp>
      <p:sp>
        <p:nvSpPr>
          <p:cNvPr id="5" name="Text 3"/>
          <p:cNvSpPr/>
          <p:nvPr/>
        </p:nvSpPr>
        <p:spPr>
          <a:xfrm>
            <a:off x="274320" y="2926080"/>
            <a:ext cx="3474720" cy="594360"/>
          </a:xfrm>
          <a:prstGeom prst="rect">
            <a:avLst/>
          </a:prstGeom>
          <a:noFill/>
          <a:ln/>
        </p:spPr>
        <p:txBody>
          <a:bodyPr wrap="square" rtlCol="0" anchor="ctr"/>
          <a:lstStyle/>
          <a:p>
            <a:pPr marL="0" indent="0">
              <a:buNone/>
            </a:pPr>
            <a:r>
              <a:rPr lang="en-US" sz="2800" b="1" dirty="0">
                <a:solidFill>
                  <a:srgbClr val="000000"/>
                </a:solidFill>
                <a:latin typeface="Georgia" pitchFamily="34" charset="0"/>
                <a:ea typeface="Georgia" pitchFamily="34" charset="-122"/>
                <a:cs typeface="Georgia" pitchFamily="34" charset="-120"/>
              </a:rPr>
              <a:t>Conclusion</a:t>
            </a:r>
            <a:endParaRPr lang="en-US" sz="2800" dirty="0"/>
          </a:p>
        </p:txBody>
      </p:sp>
      <p:sp>
        <p:nvSpPr>
          <p:cNvPr id="6" name="Text 4"/>
          <p:cNvSpPr/>
          <p:nvPr/>
        </p:nvSpPr>
        <p:spPr>
          <a:xfrm>
            <a:off x="4343400" y="274320"/>
            <a:ext cx="7498080" cy="2011680"/>
          </a:xfrm>
          <a:prstGeom prst="rect">
            <a:avLst/>
          </a:prstGeom>
          <a:noFill/>
          <a:ln/>
        </p:spPr>
        <p:txBody>
          <a:bodyPr wrap="square" rtlCol="0" anchor="ctr"/>
          <a:lstStyle/>
          <a:p>
            <a:pPr marL="0" indent="0">
              <a:buNone/>
            </a:pPr>
            <a:r>
              <a:rPr lang="en-US" sz="1300" dirty="0">
                <a:solidFill>
                  <a:srgbClr val="000000"/>
                </a:solidFill>
                <a:latin typeface="Calibri" pitchFamily="34" charset="0"/>
                <a:ea typeface="Calibri" pitchFamily="34" charset="-122"/>
                <a:cs typeface="Calibri" pitchFamily="34" charset="-120"/>
              </a:rPr>
              <a:t>The Hospital Emergency Room Dashboard brings together 9,216 patient records across 2023 and 2024 to deliver comprehensive, data-driven insights into ER operations. By visualizing key metrics such as patient volume trends, wait times, satisfaction scores, admission rates, gender and age demographics, and department referral patterns, the dashboard enables hospital administrators and clinical staff to make informed, timely decisions.</a:t>
            </a:r>
            <a:endParaRPr lang="en-US" sz="1300" dirty="0"/>
          </a:p>
        </p:txBody>
      </p:sp>
      <p:sp>
        <p:nvSpPr>
          <p:cNvPr id="7" name="Text 5"/>
          <p:cNvSpPr/>
          <p:nvPr/>
        </p:nvSpPr>
        <p:spPr>
          <a:xfrm>
            <a:off x="4343400" y="2423160"/>
            <a:ext cx="7498080" cy="365760"/>
          </a:xfrm>
          <a:prstGeom prst="rect">
            <a:avLst/>
          </a:prstGeom>
          <a:noFill/>
          <a:ln/>
        </p:spPr>
        <p:txBody>
          <a:bodyPr wrap="square"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Key Takeaways:</a:t>
            </a:r>
            <a:endParaRPr lang="en-US" sz="1400" dirty="0"/>
          </a:p>
        </p:txBody>
      </p:sp>
      <p:sp>
        <p:nvSpPr>
          <p:cNvPr id="8" name="Shape 6"/>
          <p:cNvSpPr/>
          <p:nvPr/>
        </p:nvSpPr>
        <p:spPr>
          <a:xfrm>
            <a:off x="4389120" y="2944368"/>
            <a:ext cx="109728" cy="109728"/>
          </a:xfrm>
          <a:prstGeom prst="ellipse">
            <a:avLst/>
          </a:prstGeom>
          <a:solidFill>
            <a:srgbClr val="ED7D31"/>
          </a:solidFill>
          <a:ln w="12700">
            <a:solidFill>
              <a:srgbClr val="ED7D31"/>
            </a:solidFill>
            <a:prstDash val="solid"/>
          </a:ln>
        </p:spPr>
      </p:sp>
      <p:sp>
        <p:nvSpPr>
          <p:cNvPr id="9" name="Text 7"/>
          <p:cNvSpPr/>
          <p:nvPr/>
        </p:nvSpPr>
        <p:spPr>
          <a:xfrm>
            <a:off x="4572000" y="2834640"/>
            <a:ext cx="7223760" cy="438912"/>
          </a:xfrm>
          <a:prstGeom prst="rect">
            <a:avLst/>
          </a:prstGeom>
          <a:noFill/>
          <a:ln/>
        </p:spPr>
        <p:txBody>
          <a:bodyPr wrap="square" rtlCol="0" anchor="ctr"/>
          <a:lstStyle/>
          <a:p>
            <a:pPr marL="0" indent="0">
              <a:buNone/>
            </a:pPr>
            <a:r>
              <a:rPr lang="en-US" sz="1250" dirty="0">
                <a:solidFill>
                  <a:srgbClr val="000000"/>
                </a:solidFill>
                <a:latin typeface="Calibri" pitchFamily="34" charset="0"/>
                <a:ea typeface="Calibri" pitchFamily="34" charset="-122"/>
                <a:cs typeface="Calibri" pitchFamily="34" charset="-120"/>
              </a:rPr>
              <a:t>Patient volume increased 12.4% from 2023 to 2024, highlighting growing ER demand.</a:t>
            </a:r>
            <a:endParaRPr lang="en-US" sz="1250" dirty="0"/>
          </a:p>
        </p:txBody>
      </p:sp>
      <p:sp>
        <p:nvSpPr>
          <p:cNvPr id="10" name="Shape 8"/>
          <p:cNvSpPr/>
          <p:nvPr/>
        </p:nvSpPr>
        <p:spPr>
          <a:xfrm>
            <a:off x="4389120" y="3419856"/>
            <a:ext cx="109728" cy="109728"/>
          </a:xfrm>
          <a:prstGeom prst="ellipse">
            <a:avLst/>
          </a:prstGeom>
          <a:solidFill>
            <a:srgbClr val="ED7D31"/>
          </a:solidFill>
          <a:ln w="12700">
            <a:solidFill>
              <a:srgbClr val="ED7D31"/>
            </a:solidFill>
            <a:prstDash val="solid"/>
          </a:ln>
        </p:spPr>
      </p:sp>
      <p:sp>
        <p:nvSpPr>
          <p:cNvPr id="11" name="Text 9"/>
          <p:cNvSpPr/>
          <p:nvPr/>
        </p:nvSpPr>
        <p:spPr>
          <a:xfrm>
            <a:off x="4572000" y="3310128"/>
            <a:ext cx="7223760" cy="438912"/>
          </a:xfrm>
          <a:prstGeom prst="rect">
            <a:avLst/>
          </a:prstGeom>
          <a:noFill/>
          <a:ln/>
        </p:spPr>
        <p:txBody>
          <a:bodyPr wrap="square" rtlCol="0" anchor="ctr"/>
          <a:lstStyle/>
          <a:p>
            <a:pPr marL="0" indent="0">
              <a:buNone/>
            </a:pPr>
            <a:r>
              <a:rPr lang="en-US" sz="1250" dirty="0">
                <a:solidFill>
                  <a:srgbClr val="000000"/>
                </a:solidFill>
                <a:latin typeface="Calibri" pitchFamily="34" charset="0"/>
                <a:ea typeface="Calibri" pitchFamily="34" charset="-122"/>
                <a:cs typeface="Calibri" pitchFamily="34" charset="-120"/>
              </a:rPr>
              <a:t>Average wait time remained stable (~35 min), but on-time attendance dropped to 39.5% in 2024.</a:t>
            </a:r>
            <a:endParaRPr lang="en-US" sz="1250" dirty="0"/>
          </a:p>
        </p:txBody>
      </p:sp>
      <p:sp>
        <p:nvSpPr>
          <p:cNvPr id="12" name="Shape 10"/>
          <p:cNvSpPr/>
          <p:nvPr/>
        </p:nvSpPr>
        <p:spPr>
          <a:xfrm>
            <a:off x="4389120" y="3895344"/>
            <a:ext cx="109728" cy="109728"/>
          </a:xfrm>
          <a:prstGeom prst="ellipse">
            <a:avLst/>
          </a:prstGeom>
          <a:solidFill>
            <a:srgbClr val="ED7D31"/>
          </a:solidFill>
          <a:ln w="12700">
            <a:solidFill>
              <a:srgbClr val="ED7D31"/>
            </a:solidFill>
            <a:prstDash val="solid"/>
          </a:ln>
        </p:spPr>
      </p:sp>
      <p:sp>
        <p:nvSpPr>
          <p:cNvPr id="13" name="Text 11"/>
          <p:cNvSpPr/>
          <p:nvPr/>
        </p:nvSpPr>
        <p:spPr>
          <a:xfrm>
            <a:off x="4572000" y="3785616"/>
            <a:ext cx="7223760" cy="438912"/>
          </a:xfrm>
          <a:prstGeom prst="rect">
            <a:avLst/>
          </a:prstGeom>
          <a:noFill/>
          <a:ln/>
        </p:spPr>
        <p:txBody>
          <a:bodyPr wrap="square" rtlCol="0" anchor="ctr"/>
          <a:lstStyle/>
          <a:p>
            <a:pPr marL="0" indent="0">
              <a:buNone/>
            </a:pPr>
            <a:r>
              <a:rPr lang="en-US" sz="1250" dirty="0">
                <a:solidFill>
                  <a:srgbClr val="000000"/>
                </a:solidFill>
                <a:latin typeface="Calibri" pitchFamily="34" charset="0"/>
                <a:ea typeface="Calibri" pitchFamily="34" charset="-122"/>
                <a:cs typeface="Calibri" pitchFamily="34" charset="-120"/>
              </a:rPr>
              <a:t>Admission rates are nearly balanced — roughly half of all patients are admitted each year.</a:t>
            </a:r>
            <a:endParaRPr lang="en-US" sz="1250" dirty="0"/>
          </a:p>
        </p:txBody>
      </p:sp>
      <p:sp>
        <p:nvSpPr>
          <p:cNvPr id="14" name="Shape 12"/>
          <p:cNvSpPr/>
          <p:nvPr/>
        </p:nvSpPr>
        <p:spPr>
          <a:xfrm>
            <a:off x="4389120" y="4370832"/>
            <a:ext cx="109728" cy="109728"/>
          </a:xfrm>
          <a:prstGeom prst="ellipse">
            <a:avLst/>
          </a:prstGeom>
          <a:solidFill>
            <a:srgbClr val="ED7D31"/>
          </a:solidFill>
          <a:ln w="12700">
            <a:solidFill>
              <a:srgbClr val="ED7D31"/>
            </a:solidFill>
            <a:prstDash val="solid"/>
          </a:ln>
        </p:spPr>
      </p:sp>
      <p:sp>
        <p:nvSpPr>
          <p:cNvPr id="15" name="Text 13"/>
          <p:cNvSpPr/>
          <p:nvPr/>
        </p:nvSpPr>
        <p:spPr>
          <a:xfrm>
            <a:off x="4572000" y="4261104"/>
            <a:ext cx="7223760" cy="438912"/>
          </a:xfrm>
          <a:prstGeom prst="rect">
            <a:avLst/>
          </a:prstGeom>
          <a:noFill/>
          <a:ln/>
        </p:spPr>
        <p:txBody>
          <a:bodyPr wrap="square" rtlCol="0" anchor="ctr"/>
          <a:lstStyle/>
          <a:p>
            <a:pPr marL="0" indent="0">
              <a:buNone/>
            </a:pPr>
            <a:r>
              <a:rPr lang="en-US" sz="1250" dirty="0">
                <a:solidFill>
                  <a:srgbClr val="000000"/>
                </a:solidFill>
                <a:latin typeface="Calibri" pitchFamily="34" charset="0"/>
                <a:ea typeface="Calibri" pitchFamily="34" charset="-122"/>
                <a:cs typeface="Calibri" pitchFamily="34" charset="-120"/>
              </a:rPr>
              <a:t>White and African American patients form the two largest demographic groups.</a:t>
            </a:r>
            <a:endParaRPr lang="en-US" sz="1250" dirty="0"/>
          </a:p>
        </p:txBody>
      </p:sp>
      <p:sp>
        <p:nvSpPr>
          <p:cNvPr id="16" name="Shape 14"/>
          <p:cNvSpPr/>
          <p:nvPr/>
        </p:nvSpPr>
        <p:spPr>
          <a:xfrm>
            <a:off x="4389120" y="4846320"/>
            <a:ext cx="109728" cy="109728"/>
          </a:xfrm>
          <a:prstGeom prst="ellipse">
            <a:avLst/>
          </a:prstGeom>
          <a:solidFill>
            <a:srgbClr val="ED7D31"/>
          </a:solidFill>
          <a:ln w="12700">
            <a:solidFill>
              <a:srgbClr val="ED7D31"/>
            </a:solidFill>
            <a:prstDash val="solid"/>
          </a:ln>
        </p:spPr>
      </p:sp>
      <p:sp>
        <p:nvSpPr>
          <p:cNvPr id="17" name="Text 15"/>
          <p:cNvSpPr/>
          <p:nvPr/>
        </p:nvSpPr>
        <p:spPr>
          <a:xfrm>
            <a:off x="4572000" y="4736592"/>
            <a:ext cx="7223760" cy="438912"/>
          </a:xfrm>
          <a:prstGeom prst="rect">
            <a:avLst/>
          </a:prstGeom>
          <a:noFill/>
          <a:ln/>
        </p:spPr>
        <p:txBody>
          <a:bodyPr wrap="square" rtlCol="0" anchor="ctr"/>
          <a:lstStyle/>
          <a:p>
            <a:pPr marL="0" indent="0">
              <a:buNone/>
            </a:pPr>
            <a:r>
              <a:rPr lang="en-US" sz="1250" dirty="0">
                <a:solidFill>
                  <a:srgbClr val="000000"/>
                </a:solidFill>
                <a:latin typeface="Calibri" pitchFamily="34" charset="0"/>
                <a:ea typeface="Calibri" pitchFamily="34" charset="-122"/>
                <a:cs typeface="Calibri" pitchFamily="34" charset="-120"/>
              </a:rPr>
              <a:t>General Practice and Orthopedics lead department referrals across both years.</a:t>
            </a:r>
            <a:endParaRPr lang="en-US" sz="1250" dirty="0"/>
          </a:p>
        </p:txBody>
      </p:sp>
      <p:sp>
        <p:nvSpPr>
          <p:cNvPr id="18" name="Shape 16"/>
          <p:cNvSpPr/>
          <p:nvPr/>
        </p:nvSpPr>
        <p:spPr>
          <a:xfrm>
            <a:off x="4343400" y="5806440"/>
            <a:ext cx="7498080" cy="822960"/>
          </a:xfrm>
          <a:prstGeom prst="rect">
            <a:avLst/>
          </a:prstGeom>
          <a:solidFill>
            <a:srgbClr val="FFFFFF"/>
          </a:solidFill>
          <a:ln w="12700">
            <a:solidFill>
              <a:srgbClr val="FFFFFF"/>
            </a:solidFill>
            <a:prstDash val="solid"/>
          </a:ln>
        </p:spPr>
      </p:sp>
      <p:sp>
        <p:nvSpPr>
          <p:cNvPr id="19" name="Text 17"/>
          <p:cNvSpPr/>
          <p:nvPr/>
        </p:nvSpPr>
        <p:spPr>
          <a:xfrm>
            <a:off x="4343400" y="5806440"/>
            <a:ext cx="7498080" cy="822960"/>
          </a:xfrm>
          <a:prstGeom prst="rect">
            <a:avLst/>
          </a:prstGeom>
          <a:noFill/>
          <a:ln/>
        </p:spPr>
        <p:txBody>
          <a:bodyPr wrap="square" rtlCol="0" anchor="ctr"/>
          <a:lstStyle/>
          <a:p>
            <a:pPr marL="0" indent="0" algn="ctr">
              <a:buNone/>
            </a:pPr>
            <a:r>
              <a:rPr lang="en-US" sz="1050" dirty="0">
                <a:solidFill>
                  <a:srgbClr val="000000"/>
                </a:solidFill>
                <a:latin typeface="Calibri" pitchFamily="34" charset="0"/>
                <a:ea typeface="Calibri" pitchFamily="34" charset="-122"/>
                <a:cs typeface="Calibri" pitchFamily="34" charset="-120"/>
              </a:rPr>
              <a:t>Hospital Emergency Room Dashboard  |  Data Period: 2023–2024  |  Total Records: 9,216  |  Presented By: AI1400</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1597</Words>
  <Application>Microsoft Office PowerPoint</Application>
  <PresentationFormat>Widescreen</PresentationFormat>
  <Paragraphs>220</Paragraphs>
  <Slides>17</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Ayush Kumar Yadav</cp:lastModifiedBy>
  <cp:revision>2</cp:revision>
  <dcterms:created xsi:type="dcterms:W3CDTF">2026-03-08T10:47:28Z</dcterms:created>
  <dcterms:modified xsi:type="dcterms:W3CDTF">2026-03-08T11:24:38Z</dcterms:modified>
</cp:coreProperties>
</file>